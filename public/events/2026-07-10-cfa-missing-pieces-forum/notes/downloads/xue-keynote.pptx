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出生數</c:v>
                </c:pt>
              </c:strCache>
            </c:strRef>
          </c:tx>
          <c:spPr>
            <a:solidFill>
              <a:srgbClr val="E0A2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Sheet1!$A$2:$A$76</c:f>
              <c:multiLvlStrCache>
                <c:ptCount val="75"/>
                <c:lvl>
                  <c:pt idx="0">
                    <c:v>1951</c:v>
                  </c:pt>
                  <c:pt idx="1">
                    <c:v>1952</c:v>
                  </c:pt>
                  <c:pt idx="2">
                    <c:v>1953</c:v>
                  </c:pt>
                  <c:pt idx="3">
                    <c:v>1954</c:v>
                  </c:pt>
                  <c:pt idx="4">
                    <c:v>1955</c:v>
                  </c:pt>
                  <c:pt idx="5">
                    <c:v>1956</c:v>
                  </c:pt>
                  <c:pt idx="6">
                    <c:v>1957</c:v>
                  </c:pt>
                  <c:pt idx="7">
                    <c:v>1958</c:v>
                  </c:pt>
                  <c:pt idx="8">
                    <c:v>1959</c:v>
                  </c:pt>
                  <c:pt idx="9">
                    <c:v>1960</c:v>
                  </c:pt>
                  <c:pt idx="10">
                    <c:v>1961</c:v>
                  </c:pt>
                  <c:pt idx="11">
                    <c:v>1962</c:v>
                  </c:pt>
                  <c:pt idx="12">
                    <c:v>1963</c:v>
                  </c:pt>
                  <c:pt idx="13">
                    <c:v>1964</c:v>
                  </c:pt>
                  <c:pt idx="14">
                    <c:v>1965</c:v>
                  </c:pt>
                  <c:pt idx="15">
                    <c:v>1966</c:v>
                  </c:pt>
                  <c:pt idx="16">
                    <c:v>1967</c:v>
                  </c:pt>
                  <c:pt idx="17">
                    <c:v>1968</c:v>
                  </c:pt>
                  <c:pt idx="18">
                    <c:v>1969</c:v>
                  </c:pt>
                  <c:pt idx="19">
                    <c:v>1970</c:v>
                  </c:pt>
                  <c:pt idx="20">
                    <c:v>1971</c:v>
                  </c:pt>
                  <c:pt idx="21">
                    <c:v>1972</c:v>
                  </c:pt>
                  <c:pt idx="22">
                    <c:v>1973</c:v>
                  </c:pt>
                  <c:pt idx="23">
                    <c:v>1974</c:v>
                  </c:pt>
                  <c:pt idx="24">
                    <c:v>1975</c:v>
                  </c:pt>
                  <c:pt idx="25">
                    <c:v>1976</c:v>
                  </c:pt>
                  <c:pt idx="26">
                    <c:v>1977</c:v>
                  </c:pt>
                  <c:pt idx="27">
                    <c:v>1978</c:v>
                  </c:pt>
                  <c:pt idx="28">
                    <c:v>1979</c:v>
                  </c:pt>
                  <c:pt idx="29">
                    <c:v>1980</c:v>
                  </c:pt>
                  <c:pt idx="30">
                    <c:v>1981</c:v>
                  </c:pt>
                  <c:pt idx="31">
                    <c:v>1982</c:v>
                  </c:pt>
                  <c:pt idx="32">
                    <c:v>1983</c:v>
                  </c:pt>
                  <c:pt idx="33">
                    <c:v>1984</c:v>
                  </c:pt>
                  <c:pt idx="34">
                    <c:v>1985</c:v>
                  </c:pt>
                  <c:pt idx="35">
                    <c:v>1986</c:v>
                  </c:pt>
                  <c:pt idx="36">
                    <c:v>1987</c:v>
                  </c:pt>
                  <c:pt idx="37">
                    <c:v>1988</c:v>
                  </c:pt>
                  <c:pt idx="38">
                    <c:v>1989</c:v>
                  </c:pt>
                  <c:pt idx="39">
                    <c:v>1990</c:v>
                  </c:pt>
                  <c:pt idx="40">
                    <c:v>1991</c:v>
                  </c:pt>
                  <c:pt idx="41">
                    <c:v>1992</c:v>
                  </c:pt>
                  <c:pt idx="42">
                    <c:v>1993</c:v>
                  </c:pt>
                  <c:pt idx="43">
                    <c:v>1994</c:v>
                  </c:pt>
                  <c:pt idx="44">
                    <c:v>1995</c:v>
                  </c:pt>
                  <c:pt idx="45">
                    <c:v>1996</c:v>
                  </c:pt>
                  <c:pt idx="46">
                    <c:v>1997</c:v>
                  </c:pt>
                  <c:pt idx="47">
                    <c:v>1998</c:v>
                  </c:pt>
                  <c:pt idx="48">
                    <c:v>1999</c:v>
                  </c:pt>
                  <c:pt idx="49">
                    <c:v>2000</c:v>
                  </c:pt>
                  <c:pt idx="50">
                    <c:v>2001</c:v>
                  </c:pt>
                  <c:pt idx="51">
                    <c:v>2002</c:v>
                  </c:pt>
                  <c:pt idx="52">
                    <c:v>2003</c:v>
                  </c:pt>
                  <c:pt idx="53">
                    <c:v>2004</c:v>
                  </c:pt>
                  <c:pt idx="54">
                    <c:v>2005</c:v>
                  </c:pt>
                  <c:pt idx="55">
                    <c:v>2006</c:v>
                  </c:pt>
                  <c:pt idx="56">
                    <c:v>2007</c:v>
                  </c:pt>
                  <c:pt idx="57">
                    <c:v>2008</c:v>
                  </c:pt>
                  <c:pt idx="58">
                    <c:v>2009</c:v>
                  </c:pt>
                  <c:pt idx="59">
                    <c:v>2010</c:v>
                  </c:pt>
                  <c:pt idx="60">
                    <c:v>2011</c:v>
                  </c:pt>
                  <c:pt idx="61">
                    <c:v>2012</c:v>
                  </c:pt>
                  <c:pt idx="62">
                    <c:v>2013</c:v>
                  </c:pt>
                  <c:pt idx="63">
                    <c:v>2014</c:v>
                  </c:pt>
                  <c:pt idx="64">
                    <c:v>2015</c:v>
                  </c:pt>
                  <c:pt idx="65">
                    <c:v>2016</c:v>
                  </c:pt>
                  <c:pt idx="66">
                    <c:v>2017</c:v>
                  </c:pt>
                  <c:pt idx="67">
                    <c:v>2018</c:v>
                  </c:pt>
                  <c:pt idx="68">
                    <c:v>2019</c:v>
                  </c:pt>
                  <c:pt idx="69">
                    <c:v>2020</c:v>
                  </c:pt>
                  <c:pt idx="70">
                    <c:v>2021</c:v>
                  </c:pt>
                  <c:pt idx="71">
                    <c:v>2022</c:v>
                  </c:pt>
                  <c:pt idx="72">
                    <c:v>2023</c:v>
                  </c:pt>
                  <c:pt idx="73">
                    <c:v>2024</c:v>
                  </c:pt>
                  <c:pt idx="74">
                    <c:v>2025</c:v>
                  </c:pt>
                </c:lvl>
              </c:multiLvlStrCache>
            </c:multiLvlStrRef>
          </c:cat>
          <c:val>
            <c:numRef>
              <c:f>Sheet1!$B$2:$B$76</c:f>
              <c:numCache>
                <c:formatCode>General</c:formatCode>
                <c:ptCount val="75"/>
                <c:pt idx="0">
                  <c:v>385383</c:v>
                </c:pt>
                <c:pt idx="1">
                  <c:v>372905</c:v>
                </c:pt>
                <c:pt idx="2">
                  <c:v>374536</c:v>
                </c:pt>
                <c:pt idx="3">
                  <c:v>383574</c:v>
                </c:pt>
                <c:pt idx="4">
                  <c:v>403683</c:v>
                </c:pt>
                <c:pt idx="5">
                  <c:v>414036</c:v>
                </c:pt>
                <c:pt idx="6">
                  <c:v>394870</c:v>
                </c:pt>
                <c:pt idx="7">
                  <c:v>410885</c:v>
                </c:pt>
                <c:pt idx="8">
                  <c:v>421458</c:v>
                </c:pt>
                <c:pt idx="9">
                  <c:v>419442</c:v>
                </c:pt>
                <c:pt idx="10">
                  <c:v>420254</c:v>
                </c:pt>
                <c:pt idx="11">
                  <c:v>423469</c:v>
                </c:pt>
                <c:pt idx="12">
                  <c:v>424250</c:v>
                </c:pt>
                <c:pt idx="13">
                  <c:v>416926</c:v>
                </c:pt>
                <c:pt idx="14">
                  <c:v>406604</c:v>
                </c:pt>
                <c:pt idx="15">
                  <c:v>415108</c:v>
                </c:pt>
                <c:pt idx="16">
                  <c:v>374282</c:v>
                </c:pt>
                <c:pt idx="17">
                  <c:v>394260</c:v>
                </c:pt>
                <c:pt idx="18">
                  <c:v>390728</c:v>
                </c:pt>
                <c:pt idx="19">
                  <c:v>394015</c:v>
                </c:pt>
                <c:pt idx="20">
                  <c:v>380424</c:v>
                </c:pt>
                <c:pt idx="21">
                  <c:v>365749</c:v>
                </c:pt>
                <c:pt idx="22">
                  <c:v>366942</c:v>
                </c:pt>
                <c:pt idx="23">
                  <c:v>369671</c:v>
                </c:pt>
                <c:pt idx="24">
                  <c:v>369349</c:v>
                </c:pt>
                <c:pt idx="25">
                  <c:v>425125</c:v>
                </c:pt>
                <c:pt idx="26">
                  <c:v>397373</c:v>
                </c:pt>
                <c:pt idx="27">
                  <c:v>410783</c:v>
                </c:pt>
                <c:pt idx="28">
                  <c:v>424034</c:v>
                </c:pt>
                <c:pt idx="29">
                  <c:v>413881</c:v>
                </c:pt>
                <c:pt idx="30">
                  <c:v>414069</c:v>
                </c:pt>
                <c:pt idx="31">
                  <c:v>405263</c:v>
                </c:pt>
                <c:pt idx="32">
                  <c:v>383439</c:v>
                </c:pt>
                <c:pt idx="33">
                  <c:v>371008</c:v>
                </c:pt>
                <c:pt idx="34">
                  <c:v>346208</c:v>
                </c:pt>
                <c:pt idx="35">
                  <c:v>309230</c:v>
                </c:pt>
                <c:pt idx="36">
                  <c:v>314024</c:v>
                </c:pt>
                <c:pt idx="37">
                  <c:v>342031</c:v>
                </c:pt>
                <c:pt idx="38">
                  <c:v>315299</c:v>
                </c:pt>
                <c:pt idx="39">
                  <c:v>335618</c:v>
                </c:pt>
                <c:pt idx="40">
                  <c:v>321932</c:v>
                </c:pt>
                <c:pt idx="41">
                  <c:v>321632</c:v>
                </c:pt>
                <c:pt idx="42">
                  <c:v>325613</c:v>
                </c:pt>
                <c:pt idx="43">
                  <c:v>322938</c:v>
                </c:pt>
                <c:pt idx="44">
                  <c:v>329581</c:v>
                </c:pt>
                <c:pt idx="45">
                  <c:v>325545</c:v>
                </c:pt>
                <c:pt idx="46">
                  <c:v>326002</c:v>
                </c:pt>
                <c:pt idx="47">
                  <c:v>271450</c:v>
                </c:pt>
                <c:pt idx="48">
                  <c:v>283661</c:v>
                </c:pt>
                <c:pt idx="49">
                  <c:v>305312</c:v>
                </c:pt>
                <c:pt idx="50">
                  <c:v>260354</c:v>
                </c:pt>
                <c:pt idx="51">
                  <c:v>247530</c:v>
                </c:pt>
                <c:pt idx="52">
                  <c:v>227070</c:v>
                </c:pt>
                <c:pt idx="53">
                  <c:v>216419</c:v>
                </c:pt>
                <c:pt idx="54">
                  <c:v>205854</c:v>
                </c:pt>
                <c:pt idx="55">
                  <c:v>204459</c:v>
                </c:pt>
                <c:pt idx="56">
                  <c:v>204414</c:v>
                </c:pt>
                <c:pt idx="57">
                  <c:v>198733</c:v>
                </c:pt>
                <c:pt idx="58">
                  <c:v>191310</c:v>
                </c:pt>
                <c:pt idx="59">
                  <c:v>166886</c:v>
                </c:pt>
                <c:pt idx="60">
                  <c:v>196627</c:v>
                </c:pt>
                <c:pt idx="61">
                  <c:v>229481</c:v>
                </c:pt>
                <c:pt idx="62">
                  <c:v>199113</c:v>
                </c:pt>
                <c:pt idx="63">
                  <c:v>211399</c:v>
                </c:pt>
                <c:pt idx="64">
                  <c:v>213598</c:v>
                </c:pt>
                <c:pt idx="65">
                  <c:v>208440</c:v>
                </c:pt>
                <c:pt idx="66">
                  <c:v>193844</c:v>
                </c:pt>
                <c:pt idx="67">
                  <c:v>181601</c:v>
                </c:pt>
                <c:pt idx="68">
                  <c:v>177767</c:v>
                </c:pt>
                <c:pt idx="69">
                  <c:v>165249</c:v>
                </c:pt>
                <c:pt idx="70">
                  <c:v>153820</c:v>
                </c:pt>
                <c:pt idx="71">
                  <c:v>138986</c:v>
                </c:pt>
                <c:pt idx="72">
                  <c:v>135571</c:v>
                </c:pt>
                <c:pt idx="73">
                  <c:v>134856</c:v>
                </c:pt>
                <c:pt idx="74">
                  <c:v>107812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8"/>
        <c:overlap val="0"/>
        <c:axId val="2094734554"/>
        <c:axId val="2094734552"/>
        <c:axId val="2094734556"/>
      </c:barChart>
      <c:lineChart>
        <c:varyColors val="0"/>
        <c:ser>
          <c:idx val="1"/>
          <c:order val="1"/>
          <c:tx>
            <c:strRef>
              <c:f>Sheet1!$C$1</c:f>
              <c:strCache>
                <c:ptCount val="1"/>
                <c:pt idx="0">
                  <c:v>總生育率(TFR)</c:v>
                </c:pt>
              </c:strCache>
            </c:strRef>
          </c:tx>
          <c:spPr>
            <a:solidFill>
              <a:srgbClr val="0E4536"/>
            </a:solidFill>
            <a:ln w="28575" cap="flat">
              <a:solidFill>
                <a:srgbClr val="0E453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4536"/>
              </a:solidFill>
              <a:ln w="9525" cap="flat">
                <a:solidFill>
                  <a:srgbClr val="0E4536"/>
                </a:solidFill>
                <a:prstDash val="solid"/>
                <a:round/>
              </a:ln>
              <a:effectLst/>
            </c:spPr>
          </c:marker>
          <c:cat>
            <c:multiLvlStrRef>
              <c:f>Sheet1!$A$2:$A$76</c:f>
              <c:multiLvlStrCache>
                <c:ptCount val="75"/>
                <c:lvl>
                  <c:pt idx="0">
                    <c:v>1951</c:v>
                  </c:pt>
                  <c:pt idx="1">
                    <c:v>1952</c:v>
                  </c:pt>
                  <c:pt idx="2">
                    <c:v>1953</c:v>
                  </c:pt>
                  <c:pt idx="3">
                    <c:v>1954</c:v>
                  </c:pt>
                  <c:pt idx="4">
                    <c:v>1955</c:v>
                  </c:pt>
                  <c:pt idx="5">
                    <c:v>1956</c:v>
                  </c:pt>
                  <c:pt idx="6">
                    <c:v>1957</c:v>
                  </c:pt>
                  <c:pt idx="7">
                    <c:v>1958</c:v>
                  </c:pt>
                  <c:pt idx="8">
                    <c:v>1959</c:v>
                  </c:pt>
                  <c:pt idx="9">
                    <c:v>1960</c:v>
                  </c:pt>
                  <c:pt idx="10">
                    <c:v>1961</c:v>
                  </c:pt>
                  <c:pt idx="11">
                    <c:v>1962</c:v>
                  </c:pt>
                  <c:pt idx="12">
                    <c:v>1963</c:v>
                  </c:pt>
                  <c:pt idx="13">
                    <c:v>1964</c:v>
                  </c:pt>
                  <c:pt idx="14">
                    <c:v>1965</c:v>
                  </c:pt>
                  <c:pt idx="15">
                    <c:v>1966</c:v>
                  </c:pt>
                  <c:pt idx="16">
                    <c:v>1967</c:v>
                  </c:pt>
                  <c:pt idx="17">
                    <c:v>1968</c:v>
                  </c:pt>
                  <c:pt idx="18">
                    <c:v>1969</c:v>
                  </c:pt>
                  <c:pt idx="19">
                    <c:v>1970</c:v>
                  </c:pt>
                  <c:pt idx="20">
                    <c:v>1971</c:v>
                  </c:pt>
                  <c:pt idx="21">
                    <c:v>1972</c:v>
                  </c:pt>
                  <c:pt idx="22">
                    <c:v>1973</c:v>
                  </c:pt>
                  <c:pt idx="23">
                    <c:v>1974</c:v>
                  </c:pt>
                  <c:pt idx="24">
                    <c:v>1975</c:v>
                  </c:pt>
                  <c:pt idx="25">
                    <c:v>1976</c:v>
                  </c:pt>
                  <c:pt idx="26">
                    <c:v>1977</c:v>
                  </c:pt>
                  <c:pt idx="27">
                    <c:v>1978</c:v>
                  </c:pt>
                  <c:pt idx="28">
                    <c:v>1979</c:v>
                  </c:pt>
                  <c:pt idx="29">
                    <c:v>1980</c:v>
                  </c:pt>
                  <c:pt idx="30">
                    <c:v>1981</c:v>
                  </c:pt>
                  <c:pt idx="31">
                    <c:v>1982</c:v>
                  </c:pt>
                  <c:pt idx="32">
                    <c:v>1983</c:v>
                  </c:pt>
                  <c:pt idx="33">
                    <c:v>1984</c:v>
                  </c:pt>
                  <c:pt idx="34">
                    <c:v>1985</c:v>
                  </c:pt>
                  <c:pt idx="35">
                    <c:v>1986</c:v>
                  </c:pt>
                  <c:pt idx="36">
                    <c:v>1987</c:v>
                  </c:pt>
                  <c:pt idx="37">
                    <c:v>1988</c:v>
                  </c:pt>
                  <c:pt idx="38">
                    <c:v>1989</c:v>
                  </c:pt>
                  <c:pt idx="39">
                    <c:v>1990</c:v>
                  </c:pt>
                  <c:pt idx="40">
                    <c:v>1991</c:v>
                  </c:pt>
                  <c:pt idx="41">
                    <c:v>1992</c:v>
                  </c:pt>
                  <c:pt idx="42">
                    <c:v>1993</c:v>
                  </c:pt>
                  <c:pt idx="43">
                    <c:v>1994</c:v>
                  </c:pt>
                  <c:pt idx="44">
                    <c:v>1995</c:v>
                  </c:pt>
                  <c:pt idx="45">
                    <c:v>1996</c:v>
                  </c:pt>
                  <c:pt idx="46">
                    <c:v>1997</c:v>
                  </c:pt>
                  <c:pt idx="47">
                    <c:v>1998</c:v>
                  </c:pt>
                  <c:pt idx="48">
                    <c:v>1999</c:v>
                  </c:pt>
                  <c:pt idx="49">
                    <c:v>2000</c:v>
                  </c:pt>
                  <c:pt idx="50">
                    <c:v>2001</c:v>
                  </c:pt>
                  <c:pt idx="51">
                    <c:v>2002</c:v>
                  </c:pt>
                  <c:pt idx="52">
                    <c:v>2003</c:v>
                  </c:pt>
                  <c:pt idx="53">
                    <c:v>2004</c:v>
                  </c:pt>
                  <c:pt idx="54">
                    <c:v>2005</c:v>
                  </c:pt>
                  <c:pt idx="55">
                    <c:v>2006</c:v>
                  </c:pt>
                  <c:pt idx="56">
                    <c:v>2007</c:v>
                  </c:pt>
                  <c:pt idx="57">
                    <c:v>2008</c:v>
                  </c:pt>
                  <c:pt idx="58">
                    <c:v>2009</c:v>
                  </c:pt>
                  <c:pt idx="59">
                    <c:v>2010</c:v>
                  </c:pt>
                  <c:pt idx="60">
                    <c:v>2011</c:v>
                  </c:pt>
                  <c:pt idx="61">
                    <c:v>2012</c:v>
                  </c:pt>
                  <c:pt idx="62">
                    <c:v>2013</c:v>
                  </c:pt>
                  <c:pt idx="63">
                    <c:v>2014</c:v>
                  </c:pt>
                  <c:pt idx="64">
                    <c:v>2015</c:v>
                  </c:pt>
                  <c:pt idx="65">
                    <c:v>2016</c:v>
                  </c:pt>
                  <c:pt idx="66">
                    <c:v>2017</c:v>
                  </c:pt>
                  <c:pt idx="67">
                    <c:v>2018</c:v>
                  </c:pt>
                  <c:pt idx="68">
                    <c:v>2019</c:v>
                  </c:pt>
                  <c:pt idx="69">
                    <c:v>2020</c:v>
                  </c:pt>
                  <c:pt idx="70">
                    <c:v>2021</c:v>
                  </c:pt>
                  <c:pt idx="71">
                    <c:v>2022</c:v>
                  </c:pt>
                  <c:pt idx="72">
                    <c:v>2023</c:v>
                  </c:pt>
                  <c:pt idx="73">
                    <c:v>2024</c:v>
                  </c:pt>
                  <c:pt idx="74">
                    <c:v>2025</c:v>
                  </c:pt>
                </c:lvl>
              </c:multiLvlStrCache>
            </c:multiLvlStrRef>
          </c:cat>
          <c:val>
            <c:numRef>
              <c:f>Sheet1!$C$2:$C$76</c:f>
              <c:numCache>
                <c:formatCode>General</c:formatCode>
                <c:ptCount val="75"/>
                <c:pt idx="0">
                  <c:v>7.04</c:v>
                </c:pt>
                <c:pt idx="1">
                  <c:v>6.615</c:v>
                </c:pt>
                <c:pt idx="2">
                  <c:v>6.47</c:v>
                </c:pt>
                <c:pt idx="3">
                  <c:v>6.425</c:v>
                </c:pt>
                <c:pt idx="4">
                  <c:v>6.53</c:v>
                </c:pt>
                <c:pt idx="5">
                  <c:v>6.505</c:v>
                </c:pt>
                <c:pt idx="6">
                  <c:v>6</c:v>
                </c:pt>
                <c:pt idx="7">
                  <c:v>6.055</c:v>
                </c:pt>
                <c:pt idx="8">
                  <c:v>5.99</c:v>
                </c:pt>
                <c:pt idx="9">
                  <c:v>5.75</c:v>
                </c:pt>
                <c:pt idx="10">
                  <c:v>5.585</c:v>
                </c:pt>
                <c:pt idx="11">
                  <c:v>5.465</c:v>
                </c:pt>
                <c:pt idx="12">
                  <c:v>5.35</c:v>
                </c:pt>
                <c:pt idx="13">
                  <c:v>5.1</c:v>
                </c:pt>
                <c:pt idx="14">
                  <c:v>4.825</c:v>
                </c:pt>
                <c:pt idx="15">
                  <c:v>4.815</c:v>
                </c:pt>
                <c:pt idx="16">
                  <c:v>4.22</c:v>
                </c:pt>
                <c:pt idx="17">
                  <c:v>4.325</c:v>
                </c:pt>
                <c:pt idx="18">
                  <c:v>4.12</c:v>
                </c:pt>
                <c:pt idx="19">
                  <c:v>4</c:v>
                </c:pt>
                <c:pt idx="20">
                  <c:v>3.705</c:v>
                </c:pt>
                <c:pt idx="21">
                  <c:v>3.365</c:v>
                </c:pt>
                <c:pt idx="22">
                  <c:v>3.21</c:v>
                </c:pt>
                <c:pt idx="23">
                  <c:v>2.94</c:v>
                </c:pt>
                <c:pt idx="24">
                  <c:v>2.765</c:v>
                </c:pt>
                <c:pt idx="25">
                  <c:v>3.085</c:v>
                </c:pt>
                <c:pt idx="26">
                  <c:v>2.7</c:v>
                </c:pt>
                <c:pt idx="27">
                  <c:v>2.715</c:v>
                </c:pt>
                <c:pt idx="28">
                  <c:v>2.67</c:v>
                </c:pt>
                <c:pt idx="29">
                  <c:v>2.515</c:v>
                </c:pt>
                <c:pt idx="30">
                  <c:v>2.455</c:v>
                </c:pt>
                <c:pt idx="31">
                  <c:v>2.32</c:v>
                </c:pt>
                <c:pt idx="32">
                  <c:v>2.17</c:v>
                </c:pt>
                <c:pt idx="33">
                  <c:v>2.055</c:v>
                </c:pt>
                <c:pt idx="34">
                  <c:v>1.88</c:v>
                </c:pt>
                <c:pt idx="35">
                  <c:v>1.68</c:v>
                </c:pt>
                <c:pt idx="36">
                  <c:v>1.7</c:v>
                </c:pt>
                <c:pt idx="37">
                  <c:v>1.855</c:v>
                </c:pt>
                <c:pt idx="38">
                  <c:v>1.68</c:v>
                </c:pt>
                <c:pt idx="39">
                  <c:v>1.81</c:v>
                </c:pt>
                <c:pt idx="40">
                  <c:v>1.72</c:v>
                </c:pt>
                <c:pt idx="41">
                  <c:v>1.73</c:v>
                </c:pt>
                <c:pt idx="42">
                  <c:v>1.76</c:v>
                </c:pt>
                <c:pt idx="43">
                  <c:v>1.755</c:v>
                </c:pt>
                <c:pt idx="44">
                  <c:v>1.775</c:v>
                </c:pt>
                <c:pt idx="45">
                  <c:v>1.76</c:v>
                </c:pt>
                <c:pt idx="46">
                  <c:v>1.77</c:v>
                </c:pt>
                <c:pt idx="47">
                  <c:v>1.465</c:v>
                </c:pt>
                <c:pt idx="48">
                  <c:v>1.555</c:v>
                </c:pt>
                <c:pt idx="49">
                  <c:v>1.68</c:v>
                </c:pt>
                <c:pt idx="50">
                  <c:v>1.4</c:v>
                </c:pt>
                <c:pt idx="51">
                  <c:v>1.34</c:v>
                </c:pt>
                <c:pt idx="52">
                  <c:v>1.235</c:v>
                </c:pt>
                <c:pt idx="53">
                  <c:v>1.18</c:v>
                </c:pt>
                <c:pt idx="54">
                  <c:v>1.115</c:v>
                </c:pt>
                <c:pt idx="55">
                  <c:v>1.115</c:v>
                </c:pt>
                <c:pt idx="56">
                  <c:v>1.1</c:v>
                </c:pt>
                <c:pt idx="57">
                  <c:v>1.05</c:v>
                </c:pt>
                <c:pt idx="58">
                  <c:v>1.03</c:v>
                </c:pt>
                <c:pt idx="59">
                  <c:v>0.895</c:v>
                </c:pt>
                <c:pt idx="60">
                  <c:v>1.065</c:v>
                </c:pt>
                <c:pt idx="61">
                  <c:v>1.27</c:v>
                </c:pt>
                <c:pt idx="62">
                  <c:v>1.065</c:v>
                </c:pt>
                <c:pt idx="63">
                  <c:v/>
                </c:pt>
                <c:pt idx="64">
                  <c:v/>
                </c:pt>
                <c:pt idx="65">
                  <c:v/>
                </c:pt>
                <c:pt idx="66">
                  <c:v/>
                </c:pt>
                <c:pt idx="67">
                  <c:v/>
                </c:pt>
                <c:pt idx="68">
                  <c:v/>
                </c:pt>
                <c:pt idx="69">
                  <c:v/>
                </c:pt>
                <c:pt idx="70">
                  <c:v/>
                </c:pt>
                <c:pt idx="71">
                  <c:v/>
                </c:pt>
                <c:pt idx="72">
                  <c:v/>
                </c:pt>
                <c:pt idx="73">
                  <c:v/>
                </c:pt>
                <c:pt idx="74">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D8D2C4"/>
            </a:solidFill>
            <a:prstDash val="solid"/>
            <a:round/>
          </a:ln>
        </c:spPr>
        <c:txPr>
          <a:bodyPr rot="18900000"/>
          <a:lstStyle/>
          <a:p>
            <a:pPr>
              <a:defRPr sz="920" b="0" i="0" u="none" strike="noStrike">
                <a:solidFill>
                  <a:srgbClr val="6E6A62"/>
                </a:solidFill>
                <a:latin typeface="Georgia"/>
              </a:defRPr>
            </a:pPr>
            <a:endParaRPr lang="en-US"/>
          </a:p>
        </c:txPr>
        <c:crossAx val="2094734552"/>
        <c:crosses val="autoZero"/>
        <c:auto val="1"/>
        <c:lblAlgn val="ctr"/>
        <c:noMultiLvlLbl val="1"/>
        <c:tickLblSkip val="3"/>
      </c:catAx>
      <c:valAx>
        <c:axId val="2094734552"/>
        <c:scaling>
          <c:orientation val="minMax"/>
          <c:max val="450000"/>
          <c:min val="0"/>
        </c:scaling>
        <c:delete val="0"/>
        <c:axPos val="l"/>
        <c:majorGridlines>
          <c:spPr>
            <a:ln w="6350" cap="flat">
              <a:solidFill>
                <a:srgbClr val="ECE6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80" b="0" i="0" u="none" strike="noStrike">
                <a:solidFill>
                  <a:srgbClr val="6E6A62"/>
                </a:solidFill>
                <a:latin typeface="Georgia"/>
              </a:defRPr>
            </a:pPr>
            <a:endParaRPr lang="en-US"/>
          </a:p>
        </c:txPr>
        <c:crossAx val="2094734554"/>
        <c:crosses val="autoZero"/>
        <c:crossBetween val="between"/>
        <c:majorUnit val="50000"/>
      </c:valAx>
      <c:valAx>
        <c:axId val="2094734553"/>
        <c:scaling>
          <c:orientation val="minMax"/>
          <c:max val="8"/>
          <c:min val="0"/>
        </c:scaling>
        <c:delete val="0"/>
        <c:axPos val="r"/>
        <c:numFmt formatCode="0.00" sourceLinked="0"/>
        <c:majorTickMark val="out"/>
        <c:minorTickMark val="none"/>
        <c:tickLblPos val="nextTo"/>
        <c:spPr>
          <a:ln w="12700" cap="flat">
            <a:solidFill>
              <a:srgbClr val="888888"/>
            </a:solidFill>
            <a:prstDash val="solid"/>
            <a:round/>
          </a:ln>
        </c:spPr>
        <c:txPr>
          <a:bodyPr/>
          <a:lstStyle/>
          <a:p>
            <a:pPr>
              <a:defRPr sz="980" b="0" i="0" u="none" strike="noStrike">
                <a:solidFill>
                  <a:srgbClr val="6E6A62"/>
                </a:solidFill>
                <a:latin typeface="Georgia"/>
              </a:defRPr>
            </a:pPr>
            <a:endParaRPr lang="en-US"/>
          </a:p>
        </c:txPr>
        <c:crossAx val="2094734555"/>
        <c:crosses val="max"/>
        <c:crossBetween val="between"/>
        <c:majorUnit val="1"/>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男</c:v>
                </c:pt>
              </c:strCache>
            </c:strRef>
          </c:tx>
          <c:spPr>
            <a:solidFill>
              <a:srgbClr val="0E453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Sheet1!$A$2:$A$20</c:f>
              <c:multiLvlStrCache>
                <c:ptCount val="19"/>
                <c:lvl>
                  <c:pt idx="0">
                    <c:v>1911</c:v>
                  </c:pt>
                  <c:pt idx="1">
                    <c:v>1921</c:v>
                  </c:pt>
                  <c:pt idx="2">
                    <c:v>1931</c:v>
                  </c:pt>
                  <c:pt idx="3">
                    <c:v>1941</c:v>
                  </c:pt>
                  <c:pt idx="4">
                    <c:v>1951</c:v>
                  </c:pt>
                  <c:pt idx="5">
                    <c:v>1956</c:v>
                  </c:pt>
                  <c:pt idx="6">
                    <c:v>1961</c:v>
                  </c:pt>
                  <c:pt idx="7">
                    <c:v>1966</c:v>
                  </c:pt>
                  <c:pt idx="8">
                    <c:v>1971</c:v>
                  </c:pt>
                  <c:pt idx="9">
                    <c:v>1976</c:v>
                  </c:pt>
                  <c:pt idx="10">
                    <c:v>1981</c:v>
                  </c:pt>
                  <c:pt idx="11">
                    <c:v>1986</c:v>
                  </c:pt>
                  <c:pt idx="12">
                    <c:v>1991</c:v>
                  </c:pt>
                  <c:pt idx="13">
                    <c:v>1996</c:v>
                  </c:pt>
                  <c:pt idx="14">
                    <c:v>2001</c:v>
                  </c:pt>
                  <c:pt idx="15">
                    <c:v>2006</c:v>
                  </c:pt>
                  <c:pt idx="16">
                    <c:v>2011</c:v>
                  </c:pt>
                  <c:pt idx="17">
                    <c:v>2012</c:v>
                  </c:pt>
                  <c:pt idx="18">
                    <c:v>2013</c:v>
                  </c:pt>
                </c:lvl>
              </c:multiLvlStrCache>
            </c:multiLvlStrRef>
          </c:cat>
          <c:val>
            <c:numRef>
              <c:f>Sheet1!$B$2:$B$20</c:f>
              <c:numCache>
                <c:formatCode>General</c:formatCode>
                <c:ptCount val="19"/>
                <c:pt idx="0">
                  <c:v>34.12000000000001</c:v>
                </c:pt>
                <c:pt idx="1">
                  <c:v>35.77</c:v>
                </c:pt>
                <c:pt idx="2">
                  <c:v>40.550000000000004</c:v>
                </c:pt>
                <c:pt idx="3">
                  <c:v>45.809999999999995</c:v>
                </c:pt>
                <c:pt idx="4">
                  <c:v>53.379999999999995</c:v>
                </c:pt>
                <c:pt idx="5">
                  <c:v>60.4</c:v>
                </c:pt>
                <c:pt idx="6">
                  <c:v>62.64</c:v>
                </c:pt>
                <c:pt idx="7">
                  <c:v>65.17999999999998</c:v>
                </c:pt>
                <c:pt idx="8">
                  <c:v>67.19</c:v>
                </c:pt>
                <c:pt idx="9">
                  <c:v>68.7</c:v>
                </c:pt>
                <c:pt idx="10">
                  <c:v>69.74</c:v>
                </c:pt>
                <c:pt idx="11">
                  <c:v>70.97</c:v>
                </c:pt>
                <c:pt idx="12">
                  <c:v>71.83</c:v>
                </c:pt>
                <c:pt idx="13">
                  <c:v>72.36999999999999</c:v>
                </c:pt>
                <c:pt idx="14">
                  <c:v>74.06</c:v>
                </c:pt>
                <c:pt idx="15">
                  <c:v>74.85</c:v>
                </c:pt>
                <c:pt idx="16">
                  <c:v>75.94000000000003</c:v>
                </c:pt>
                <c:pt idx="17">
                  <c:v>76.41000000000003</c:v>
                </c:pt>
                <c:pt idx="18">
                  <c:v>76.69</c:v>
                </c:pt>
              </c:numCache>
            </c:numRef>
          </c:val>
        </c:ser>
        <c:ser>
          <c:idx val="1"/>
          <c:order val="1"/>
          <c:tx>
            <c:strRef>
              <c:f>Sheet1!$C$1</c:f>
              <c:strCache>
                <c:ptCount val="1"/>
                <c:pt idx="0">
                  <c:v>女</c:v>
                </c:pt>
              </c:strCache>
            </c:strRef>
          </c:tx>
          <c:spPr>
            <a:solidFill>
              <a:srgbClr val="B0562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Sheet1!$A$2:$A$20</c:f>
              <c:multiLvlStrCache>
                <c:ptCount val="19"/>
                <c:lvl>
                  <c:pt idx="0">
                    <c:v>1911</c:v>
                  </c:pt>
                  <c:pt idx="1">
                    <c:v>1921</c:v>
                  </c:pt>
                  <c:pt idx="2">
                    <c:v>1931</c:v>
                  </c:pt>
                  <c:pt idx="3">
                    <c:v>1941</c:v>
                  </c:pt>
                  <c:pt idx="4">
                    <c:v>1951</c:v>
                  </c:pt>
                  <c:pt idx="5">
                    <c:v>1956</c:v>
                  </c:pt>
                  <c:pt idx="6">
                    <c:v>1961</c:v>
                  </c:pt>
                  <c:pt idx="7">
                    <c:v>1966</c:v>
                  </c:pt>
                  <c:pt idx="8">
                    <c:v>1971</c:v>
                  </c:pt>
                  <c:pt idx="9">
                    <c:v>1976</c:v>
                  </c:pt>
                  <c:pt idx="10">
                    <c:v>1981</c:v>
                  </c:pt>
                  <c:pt idx="11">
                    <c:v>1986</c:v>
                  </c:pt>
                  <c:pt idx="12">
                    <c:v>1991</c:v>
                  </c:pt>
                  <c:pt idx="13">
                    <c:v>1996</c:v>
                  </c:pt>
                  <c:pt idx="14">
                    <c:v>2001</c:v>
                  </c:pt>
                  <c:pt idx="15">
                    <c:v>2006</c:v>
                  </c:pt>
                  <c:pt idx="16">
                    <c:v>2011</c:v>
                  </c:pt>
                  <c:pt idx="17">
                    <c:v>2012</c:v>
                  </c:pt>
                  <c:pt idx="18">
                    <c:v>2013</c:v>
                  </c:pt>
                </c:lvl>
              </c:multiLvlStrCache>
            </c:multiLvlStrRef>
          </c:cat>
          <c:val>
            <c:numRef>
              <c:f>Sheet1!$C$2:$C$20</c:f>
              <c:numCache>
                <c:formatCode>General</c:formatCode>
                <c:ptCount val="19"/>
                <c:pt idx="0">
                  <c:v>38.04</c:v>
                </c:pt>
                <c:pt idx="1">
                  <c:v>40.24</c:v>
                </c:pt>
                <c:pt idx="2">
                  <c:v>44.65</c:v>
                </c:pt>
                <c:pt idx="3">
                  <c:v>50.29000000000001</c:v>
                </c:pt>
                <c:pt idx="4">
                  <c:v>56.33</c:v>
                </c:pt>
                <c:pt idx="5">
                  <c:v>64.38</c:v>
                </c:pt>
                <c:pt idx="6">
                  <c:v>67.16999999999999</c:v>
                </c:pt>
                <c:pt idx="7">
                  <c:v>69.74</c:v>
                </c:pt>
                <c:pt idx="8">
                  <c:v>72.08</c:v>
                </c:pt>
                <c:pt idx="9">
                  <c:v>73.6</c:v>
                </c:pt>
                <c:pt idx="10">
                  <c:v>74.64</c:v>
                </c:pt>
                <c:pt idx="11">
                  <c:v>75.88</c:v>
                </c:pt>
                <c:pt idx="12">
                  <c:v>77.14</c:v>
                </c:pt>
                <c:pt idx="13">
                  <c:v>78.04</c:v>
                </c:pt>
                <c:pt idx="14">
                  <c:v>79.9</c:v>
                </c:pt>
                <c:pt idx="15">
                  <c:v>81.4</c:v>
                </c:pt>
                <c:pt idx="16">
                  <c:v>82.6</c:v>
                </c:pt>
                <c:pt idx="17">
                  <c:v>82.8</c:v>
                </c:pt>
                <c:pt idx="18">
                  <c:v>83.25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980" b="0" i="0" u="none" strike="noStrike">
                <a:solidFill>
                  <a:srgbClr val="6E6A62"/>
                </a:solidFill>
                <a:latin typeface="Georgia"/>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6350" cap="flat">
              <a:solidFill>
                <a:srgbClr val="ECE6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40" b="0" i="0" u="none" strike="noStrike">
                <a:solidFill>
                  <a:srgbClr val="6E6A62"/>
                </a:solidFill>
                <a:latin typeface="Georgia"/>
              </a:defRPr>
            </a:pPr>
            <a:endParaRPr lang="en-US"/>
          </a:p>
        </c:txPr>
        <c:crossAx val="2094734554"/>
        <c:crosses val="autoZero"/>
        <c:crossBetween val="between"/>
        <c:majorUnit val="10"/>
      </c:valAx>
      <c:spPr>
        <a:noFill/>
        <a:ln>
          <a:noFill/>
        </a:ln>
        <a:effectLst/>
      </c:spPr>
    </c:plotArea>
    <c:legend>
      <c:legendPos val="r"/>
      <c:overlay val="0"/>
      <c:txPr>
        <a:bodyPr/>
        <a:lstStyle/>
        <a:p>
          <a:pPr>
            <a:defRPr sz="1260">
              <a:solidFill>
                <a:srgbClr val="38352E"/>
              </a:solidFill>
              <a:latin typeface="Heiti TC"/>
              <a:cs typeface="Heiti T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640080"/>
            <a:ext cx="10874959" cy="274320"/>
          </a:xfrm>
          <a:prstGeom prst="rect">
            <a:avLst/>
          </a:prstGeom>
          <a:noFill/>
          <a:ln/>
        </p:spPr>
        <p:txBody>
          <a:bodyPr wrap="square" rtlCol="0" anchor="ctr"/>
          <a:lstStyle/>
          <a:p>
            <a:pPr indent="0" marL="0">
              <a:buNone/>
            </a:pPr>
            <a:r>
              <a:rPr lang="en-US" sz="1380" b="1" spc="300" kern="0" dirty="0">
                <a:solidFill>
                  <a:srgbClr val="B0562F"/>
                </a:solidFill>
                <a:latin typeface="Georgia" pitchFamily="34" charset="0"/>
                <a:ea typeface="Georgia" pitchFamily="34" charset="-122"/>
                <a:cs typeface="Georgia" pitchFamily="34" charset="-120"/>
              </a:rPr>
              <a:t>2026 兒少政策論壇 · KEYNOTE</a:t>
            </a:r>
            <a:endParaRPr lang="en-US" sz="1380" dirty="0"/>
          </a:p>
        </p:txBody>
      </p:sp>
      <p:sp>
        <p:nvSpPr>
          <p:cNvPr id="3" name="Shape 1"/>
          <p:cNvSpPr/>
          <p:nvPr/>
        </p:nvSpPr>
        <p:spPr>
          <a:xfrm>
            <a:off x="658368" y="1051560"/>
            <a:ext cx="10874959" cy="0"/>
          </a:xfrm>
          <a:prstGeom prst="line">
            <a:avLst/>
          </a:prstGeom>
          <a:noFill/>
          <a:ln w="12700">
            <a:solidFill>
              <a:srgbClr val="E4DED0"/>
            </a:solidFill>
            <a:prstDash val="solid"/>
          </a:ln>
        </p:spPr>
      </p:sp>
      <p:sp>
        <p:nvSpPr>
          <p:cNvPr id="4" name="Text 2"/>
          <p:cNvSpPr/>
          <p:nvPr/>
        </p:nvSpPr>
        <p:spPr>
          <a:xfrm>
            <a:off x="658368" y="1965960"/>
            <a:ext cx="10874959" cy="2194560"/>
          </a:xfrm>
          <a:prstGeom prst="rect">
            <a:avLst/>
          </a:prstGeom>
          <a:noFill/>
          <a:ln/>
        </p:spPr>
        <p:txBody>
          <a:bodyPr wrap="square" rtlCol="0" anchor="t"/>
          <a:lstStyle/>
          <a:p>
            <a:pPr algn="l" indent="0" marL="0">
              <a:lnSpc>
                <a:spcPct val="112000"/>
              </a:lnSpc>
              <a:buNone/>
            </a:pPr>
            <a:r>
              <a:rPr lang="en-US" sz="5980" b="1" dirty="0">
                <a:solidFill>
                  <a:srgbClr val="0E4536"/>
                </a:solidFill>
                <a:latin typeface="Songti TC" pitchFamily="34" charset="0"/>
                <a:ea typeface="Songti TC" pitchFamily="34" charset="-122"/>
                <a:cs typeface="Songti TC" pitchFamily="34" charset="-120"/>
              </a:rPr>
              <a:t>「兒少及家庭支持署」</a:t>
            </a:r>
            <a:pPr algn="l" indent="0" marL="0">
              <a:lnSpc>
                <a:spcPct val="112000"/>
              </a:lnSpc>
              <a:buNone/>
            </a:pPr>
            <a:r>
              <a:rPr lang="en-US" sz="5980" b="1" dirty="0">
                <a:solidFill>
                  <a:srgbClr val="1B1B18"/>
                </a:solidFill>
                <a:latin typeface="Songti TC" pitchFamily="34" charset="0"/>
                <a:ea typeface="Songti TC" pitchFamily="34" charset="-122"/>
                <a:cs typeface="Songti TC" pitchFamily="34" charset="-120"/>
              </a:rPr>
              <a:t>能</a:t>
            </a:r>
            <a:endParaRPr lang="en-US" sz="5980" dirty="0"/>
          </a:p>
          <a:p>
            <a:pPr algn="l" indent="0" marL="0">
              <a:lnSpc>
                <a:spcPct val="112000"/>
              </a:lnSpc>
              <a:buNone/>
            </a:pPr>
            <a:r>
              <a:rPr lang="en-US" sz="5980" b="1" dirty="0">
                <a:solidFill>
                  <a:srgbClr val="1B1B18"/>
                </a:solidFill>
                <a:latin typeface="Songti TC" pitchFamily="34" charset="0"/>
                <a:ea typeface="Songti TC" pitchFamily="34" charset="-122"/>
                <a:cs typeface="Songti TC" pitchFamily="34" charset="-120"/>
              </a:rPr>
              <a:t>照亮台灣的未來嗎？</a:t>
            </a:r>
            <a:endParaRPr lang="en-US" sz="5980" dirty="0"/>
          </a:p>
        </p:txBody>
      </p:sp>
      <p:sp>
        <p:nvSpPr>
          <p:cNvPr id="5" name="Shape 3"/>
          <p:cNvSpPr/>
          <p:nvPr/>
        </p:nvSpPr>
        <p:spPr>
          <a:xfrm>
            <a:off x="658368" y="5074920"/>
            <a:ext cx="45720" cy="960120"/>
          </a:xfrm>
          <a:prstGeom prst="rect">
            <a:avLst/>
          </a:prstGeom>
          <a:solidFill>
            <a:srgbClr val="0E4536"/>
          </a:solidFill>
          <a:ln/>
        </p:spPr>
      </p:sp>
      <p:sp>
        <p:nvSpPr>
          <p:cNvPr id="6" name="Text 4"/>
          <p:cNvSpPr/>
          <p:nvPr/>
        </p:nvSpPr>
        <p:spPr>
          <a:xfrm>
            <a:off x="914400" y="5029200"/>
            <a:ext cx="4572000" cy="548640"/>
          </a:xfrm>
          <a:prstGeom prst="rect">
            <a:avLst/>
          </a:prstGeom>
          <a:noFill/>
          <a:ln/>
        </p:spPr>
        <p:txBody>
          <a:bodyPr wrap="square" rtlCol="0" anchor="ctr"/>
          <a:lstStyle/>
          <a:p>
            <a:pPr indent="0" marL="0">
              <a:buNone/>
            </a:pPr>
            <a:r>
              <a:rPr lang="en-US" sz="2990" b="1" dirty="0">
                <a:solidFill>
                  <a:srgbClr val="1B1B18"/>
                </a:solidFill>
                <a:latin typeface="Songti TC" pitchFamily="34" charset="0"/>
                <a:ea typeface="Songti TC" pitchFamily="34" charset="-122"/>
                <a:cs typeface="Songti TC" pitchFamily="34" charset="-120"/>
              </a:rPr>
              <a:t>薛承泰</a:t>
            </a:r>
            <a:endParaRPr lang="en-US" sz="2990" dirty="0"/>
          </a:p>
        </p:txBody>
      </p:sp>
      <p:sp>
        <p:nvSpPr>
          <p:cNvPr id="7" name="Text 5"/>
          <p:cNvSpPr/>
          <p:nvPr/>
        </p:nvSpPr>
        <p:spPr>
          <a:xfrm>
            <a:off x="923544" y="5596128"/>
            <a:ext cx="8229600" cy="365760"/>
          </a:xfrm>
          <a:prstGeom prst="rect">
            <a:avLst/>
          </a:prstGeom>
          <a:noFill/>
          <a:ln/>
        </p:spPr>
        <p:txBody>
          <a:bodyPr wrap="square" rtlCol="0" anchor="ctr"/>
          <a:lstStyle/>
          <a:p>
            <a:pPr indent="0" marL="0">
              <a:buNone/>
            </a:pPr>
            <a:r>
              <a:rPr lang="en-US" sz="1610" dirty="0">
                <a:solidFill>
                  <a:srgbClr val="6E6A62"/>
                </a:solidFill>
                <a:latin typeface="Heiti TC" pitchFamily="34" charset="0"/>
                <a:ea typeface="Heiti TC" pitchFamily="34" charset="-122"/>
                <a:cs typeface="Heiti TC" pitchFamily="34" charset="-120"/>
              </a:rPr>
              <a:t>台大退休教授　·　前行政院政務委員　·　前台北市社會局長</a:t>
            </a:r>
            <a:endParaRPr lang="en-US" sz="1610" dirty="0"/>
          </a:p>
        </p:txBody>
      </p:sp>
      <p:sp>
        <p:nvSpPr>
          <p:cNvPr id="8" name="Text 6"/>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9" name="Text 7"/>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 / 30</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引言 · INTRODUCTION</a:t>
            </a:r>
            <a:endParaRPr lang="en-US" sz="1380" dirty="0"/>
          </a:p>
        </p:txBody>
      </p:sp>
      <p:sp>
        <p:nvSpPr>
          <p:cNvPr id="3" name="Text 1"/>
          <p:cNvSpPr/>
          <p:nvPr/>
        </p:nvSpPr>
        <p:spPr>
          <a:xfrm>
            <a:off x="658368" y="950976"/>
            <a:ext cx="10874959" cy="822960"/>
          </a:xfrm>
          <a:prstGeom prst="rect">
            <a:avLst/>
          </a:prstGeom>
          <a:noFill/>
          <a:ln/>
        </p:spPr>
        <p:txBody>
          <a:bodyPr wrap="square" rtlCol="0" anchor="t"/>
          <a:lstStyle/>
          <a:p>
            <a:pPr algn="l" indent="0" marL="0">
              <a:lnSpc>
                <a:spcPct val="105000"/>
              </a:lnSpc>
              <a:buNone/>
            </a:pPr>
            <a:r>
              <a:rPr lang="en-US" sz="2990" b="1" dirty="0">
                <a:solidFill>
                  <a:srgbClr val="1B1B18"/>
                </a:solidFill>
                <a:latin typeface="Songti TC" pitchFamily="34" charset="0"/>
                <a:ea typeface="Songti TC" pitchFamily="34" charset="-122"/>
                <a:cs typeface="Songti TC" pitchFamily="34" charset="-120"/>
              </a:rPr>
              <a:t>兒家署的誕生</a:t>
            </a:r>
            <a:endParaRPr lang="en-US" sz="2990" dirty="0"/>
          </a:p>
        </p:txBody>
      </p:sp>
      <p:sp>
        <p:nvSpPr>
          <p:cNvPr id="4" name="Shape 2"/>
          <p:cNvSpPr/>
          <p:nvPr/>
        </p:nvSpPr>
        <p:spPr>
          <a:xfrm>
            <a:off x="658368" y="182880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 / 30</a:t>
            </a:r>
            <a:endParaRPr lang="en-US" sz="1150" dirty="0"/>
          </a:p>
        </p:txBody>
      </p:sp>
      <p:sp>
        <p:nvSpPr>
          <p:cNvPr id="7" name="Text 5"/>
          <p:cNvSpPr/>
          <p:nvPr/>
        </p:nvSpPr>
        <p:spPr>
          <a:xfrm>
            <a:off x="658368" y="2130552"/>
            <a:ext cx="10874959" cy="4087368"/>
          </a:xfrm>
          <a:prstGeom prst="rect">
            <a:avLst/>
          </a:prstGeom>
          <a:noFill/>
          <a:ln/>
        </p:spPr>
        <p:txBody>
          <a:bodyPr wrap="square" rtlCol="0" anchor="t"/>
          <a:lstStyle/>
          <a:p>
            <a:pPr algn="l" indent="0" marL="0">
              <a:lnSpc>
                <a:spcPct val="150000"/>
              </a:lnSpc>
              <a:spcAft>
                <a:spcPts val="600"/>
              </a:spcAft>
              <a:buNone/>
            </a:pPr>
            <a:r>
              <a:rPr lang="en-US" sz="1950" dirty="0">
                <a:solidFill>
                  <a:srgbClr val="38352E"/>
                </a:solidFill>
                <a:latin typeface="Heiti TC" pitchFamily="34" charset="0"/>
                <a:ea typeface="Heiti TC" pitchFamily="34" charset="-122"/>
                <a:cs typeface="Heiti TC" pitchFamily="34" charset="-120"/>
              </a:rPr>
              <a:t>2025 年 11 月「健康台灣深耕論壇」，賴總統蒞臨致詞時表示，中華民國兒童健康聯盟榮譽理事長呂鴻基多年來倡議成立兒少權責部門，</a:t>
            </a:r>
            <a:pPr algn="l" indent="0" marL="0">
              <a:lnSpc>
                <a:spcPct val="150000"/>
              </a:lnSpc>
              <a:spcAft>
                <a:spcPts val="600"/>
              </a:spcAft>
              <a:buNone/>
            </a:pPr>
            <a:r>
              <a:rPr lang="en-US" sz="1950" b="1" dirty="0">
                <a:solidFill>
                  <a:srgbClr val="0E4536"/>
                </a:solidFill>
                <a:latin typeface="Heiti TC" pitchFamily="34" charset="0"/>
                <a:ea typeface="Heiti TC" pitchFamily="34" charset="-122"/>
                <a:cs typeface="Heiti TC" pitchFamily="34" charset="-120"/>
              </a:rPr>
              <a:t>「我今天宣布未來衛福部將成立兒少及家庭支持署」</a:t>
            </a:r>
            <a:pPr algn="l" indent="0" marL="0">
              <a:lnSpc>
                <a:spcPct val="150000"/>
              </a:lnSpc>
              <a:spcAft>
                <a:spcPts val="600"/>
              </a:spcAft>
              <a:buNone/>
            </a:pPr>
            <a:r>
              <a:rPr lang="en-US" sz="1950" dirty="0">
                <a:solidFill>
                  <a:srgbClr val="38352E"/>
                </a:solidFill>
                <a:latin typeface="Heiti TC" pitchFamily="34" charset="0"/>
                <a:ea typeface="Heiti TC" pitchFamily="34" charset="-122"/>
                <a:cs typeface="Heiti TC" pitchFamily="34" charset="-120"/>
              </a:rPr>
              <a:t>，以一個兒童專責單位照顧兒童身心健康，這也是向呂鴻基教授的回報及致敬。</a:t>
            </a:r>
            <a:pPr algn="l" indent="0" marL="0">
              <a:lnSpc>
                <a:spcPct val="150000"/>
              </a:lnSpc>
              <a:spcAft>
                <a:spcPts val="600"/>
              </a:spcAft>
              <a:buNone/>
            </a:pPr>
            <a:r>
              <a:rPr lang="en-US" sz="920" dirty="0">
                <a:solidFill>
                  <a:srgbClr val="38352E"/>
                </a:solidFill>
                <a:latin typeface="Heiti TC" pitchFamily="34" charset="0"/>
                <a:ea typeface="Heiti TC" pitchFamily="34" charset="-122"/>
                <a:cs typeface="Heiti TC" pitchFamily="34" charset="-120"/>
              </a:rPr>
              <a:t>
</a:t>
            </a:r>
            <a:pPr algn="l" indent="0" marL="0">
              <a:lnSpc>
                <a:spcPct val="150000"/>
              </a:lnSpc>
              <a:spcAft>
                <a:spcPts val="600"/>
              </a:spcAft>
              <a:buNone/>
            </a:pPr>
            <a:r>
              <a:rPr lang="en-US" sz="1950" dirty="0">
                <a:solidFill>
                  <a:srgbClr val="38352E"/>
                </a:solidFill>
                <a:latin typeface="Heiti TC" pitchFamily="34" charset="0"/>
                <a:ea typeface="Heiti TC" pitchFamily="34" charset="-122"/>
                <a:cs typeface="Heiti TC" pitchFamily="34" charset="-120"/>
              </a:rPr>
              <a:t>行政院為強化兒童照護與福利政策，推動衛生福利部組織調整，規劃成立「兒少及家庭支持署」（簡稱兒家署）。該署旨在專責統籌</a:t>
            </a:r>
            <a:pPr algn="l" indent="0" marL="0">
              <a:lnSpc>
                <a:spcPct val="150000"/>
              </a:lnSpc>
              <a:spcAft>
                <a:spcPts val="600"/>
              </a:spcAft>
              <a:buNone/>
            </a:pPr>
            <a:r>
              <a:rPr lang="en-US" sz="1950" b="1" dirty="0">
                <a:solidFill>
                  <a:srgbClr val="B0562F"/>
                </a:solidFill>
                <a:latin typeface="Heiti TC" pitchFamily="34" charset="0"/>
                <a:ea typeface="Heiti TC" pitchFamily="34" charset="-122"/>
                <a:cs typeface="Heiti TC" pitchFamily="34" charset="-120"/>
              </a:rPr>
              <a:t>兒少保護、托育、早期療育、家庭支持及健康政策，並整合 0 至 18 歲孩童的相關照顧資源</a:t>
            </a:r>
            <a:pPr algn="l" indent="0" marL="0">
              <a:lnSpc>
                <a:spcPct val="150000"/>
              </a:lnSpc>
              <a:spcAft>
                <a:spcPts val="600"/>
              </a:spcAft>
              <a:buNone/>
            </a:pPr>
            <a:r>
              <a:rPr lang="en-US" sz="1950" dirty="0">
                <a:solidFill>
                  <a:srgbClr val="38352E"/>
                </a:solidFill>
                <a:latin typeface="Heiti TC" pitchFamily="34" charset="0"/>
                <a:ea typeface="Heiti TC" pitchFamily="34" charset="-122"/>
                <a:cs typeface="Heiti TC" pitchFamily="34" charset="-120"/>
              </a:rPr>
              <a:t>。</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人口對策新戰略</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每年 3,800 億的十八項措施（一）</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3 / 30</a:t>
            </a:r>
            <a:endParaRPr lang="en-US" sz="1150" dirty="0"/>
          </a:p>
        </p:txBody>
      </p:sp>
      <p:sp>
        <p:nvSpPr>
          <p:cNvPr id="7" name="Text 5"/>
          <p:cNvSpPr/>
          <p:nvPr/>
        </p:nvSpPr>
        <p:spPr>
          <a:xfrm>
            <a:off x="658368" y="196596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a:t>
            </a:r>
            <a:endParaRPr lang="en-US" sz="2530" dirty="0"/>
          </a:p>
        </p:txBody>
      </p:sp>
      <p:sp>
        <p:nvSpPr>
          <p:cNvPr id="8" name="Text 6"/>
          <p:cNvSpPr/>
          <p:nvPr/>
        </p:nvSpPr>
        <p:spPr>
          <a:xfrm>
            <a:off x="1316736" y="1947672"/>
            <a:ext cx="10216591" cy="1252728"/>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0–18 歲成長津貼</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每人每月領新台幣 5,000 元；0–6 歲全額直接領，6–18 歲由國家「撥付預存」一半並投資，政府承擔風險、保底定存利率。</a:t>
            </a:r>
            <a:endParaRPr lang="en-US" sz="1780" dirty="0"/>
          </a:p>
        </p:txBody>
      </p:sp>
      <p:sp>
        <p:nvSpPr>
          <p:cNvPr id="9" name="Text 7"/>
          <p:cNvSpPr/>
          <p:nvPr/>
        </p:nvSpPr>
        <p:spPr>
          <a:xfrm>
            <a:off x="658368" y="347472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2</a:t>
            </a:r>
            <a:endParaRPr lang="en-US" sz="2530" dirty="0"/>
          </a:p>
        </p:txBody>
      </p:sp>
      <p:sp>
        <p:nvSpPr>
          <p:cNvPr id="10" name="Text 8"/>
          <p:cNvSpPr/>
          <p:nvPr/>
        </p:nvSpPr>
        <p:spPr>
          <a:xfrm>
            <a:off x="1316736" y="3456432"/>
            <a:ext cx="10216591" cy="1252728"/>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弱勢兒少發展帳戶</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弱勢兒少每月可存 500、1,000 或 1,250 元，政府採 1 比 1 相對提撥，讓存款加倍累積，協助弱勢孩子建立未來發展基礎。</a:t>
            </a:r>
            <a:endParaRPr lang="en-US" sz="1780" dirty="0"/>
          </a:p>
        </p:txBody>
      </p:sp>
      <p:sp>
        <p:nvSpPr>
          <p:cNvPr id="11" name="Text 9"/>
          <p:cNvSpPr/>
          <p:nvPr/>
        </p:nvSpPr>
        <p:spPr>
          <a:xfrm>
            <a:off x="658368" y="498348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3</a:t>
            </a:r>
            <a:endParaRPr lang="en-US" sz="2530" dirty="0"/>
          </a:p>
        </p:txBody>
      </p:sp>
      <p:sp>
        <p:nvSpPr>
          <p:cNvPr id="12" name="Text 10"/>
          <p:cNvSpPr/>
          <p:nvPr/>
        </p:nvSpPr>
        <p:spPr>
          <a:xfrm>
            <a:off x="1316736" y="4965192"/>
            <a:ext cx="10216591" cy="1252728"/>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擴大人工生殖補助</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未滿 45 歲第 1–3 次補助 13–15 萬元；未滿 40 歲第 4–6 次每次補助 6 萬元，越早使用、加碼越多。</a:t>
            </a:r>
            <a:endParaRPr lang="en-US" sz="1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人口對策新戰略</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每年 3,800 億的十八項措施（二）</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4 / 30</a:t>
            </a:r>
            <a:endParaRPr lang="en-US" sz="1150" dirty="0"/>
          </a:p>
        </p:txBody>
      </p:sp>
      <p:sp>
        <p:nvSpPr>
          <p:cNvPr id="7" name="Text 5"/>
          <p:cNvSpPr/>
          <p:nvPr/>
        </p:nvSpPr>
        <p:spPr>
          <a:xfrm>
            <a:off x="658368" y="196596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4</a:t>
            </a:r>
            <a:endParaRPr lang="en-US" sz="2530" dirty="0"/>
          </a:p>
        </p:txBody>
      </p:sp>
      <p:sp>
        <p:nvSpPr>
          <p:cNvPr id="8" name="Text 6"/>
          <p:cNvSpPr/>
          <p:nvPr/>
        </p:nvSpPr>
        <p:spPr>
          <a:xfrm>
            <a:off x="1316736" y="1947672"/>
            <a:ext cx="10216591" cy="1252728"/>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生育保險補足至 10 萬元</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不論勞保、國保、農保、軍保或軍公教補助，每胎生育給付都補足至 10 萬元，降低生育初期負擔、幫媽媽坐月子。</a:t>
            </a:r>
            <a:endParaRPr lang="en-US" sz="1780" dirty="0"/>
          </a:p>
        </p:txBody>
      </p:sp>
      <p:sp>
        <p:nvSpPr>
          <p:cNvPr id="9" name="Text 7"/>
          <p:cNvSpPr/>
          <p:nvPr/>
        </p:nvSpPr>
        <p:spPr>
          <a:xfrm>
            <a:off x="658368" y="347472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5</a:t>
            </a:r>
            <a:endParaRPr lang="en-US" sz="2530" dirty="0"/>
          </a:p>
        </p:txBody>
      </p:sp>
      <p:sp>
        <p:nvSpPr>
          <p:cNvPr id="10" name="Text 8"/>
          <p:cNvSpPr/>
          <p:nvPr/>
        </p:nvSpPr>
        <p:spPr>
          <a:xfrm>
            <a:off x="1316736" y="3456432"/>
            <a:ext cx="10216591" cy="1252728"/>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0–2 歲育兒與托育補助</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依胎次提高補助，在家帶每月 5,000–7,000 元、公托 7,000–9,000 元、準公共托育 1.3–1.5 萬元，減輕育兒壓力。</a:t>
            </a:r>
            <a:endParaRPr lang="en-US" sz="1780" dirty="0"/>
          </a:p>
        </p:txBody>
      </p:sp>
      <p:sp>
        <p:nvSpPr>
          <p:cNvPr id="11" name="Text 9"/>
          <p:cNvSpPr/>
          <p:nvPr/>
        </p:nvSpPr>
        <p:spPr>
          <a:xfrm>
            <a:off x="658368" y="498348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6</a:t>
            </a:r>
            <a:endParaRPr lang="en-US" sz="2530" dirty="0"/>
          </a:p>
        </p:txBody>
      </p:sp>
      <p:sp>
        <p:nvSpPr>
          <p:cNvPr id="12" name="Text 10"/>
          <p:cNvSpPr/>
          <p:nvPr/>
        </p:nvSpPr>
        <p:spPr>
          <a:xfrm>
            <a:off x="1316736" y="4965192"/>
            <a:ext cx="10216591" cy="1252728"/>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2–6 歲平價教保與育兒津貼</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公幼最多繳 1,000 元、非營利幼兒園 2,000 元、準公幼 3,000 元；自行照顧或私幼者，育兒津貼每月 5,000–7,000 元。</a:t>
            </a:r>
            <a:endParaRPr lang="en-US" sz="1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人口對策新戰略</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每年 3,800 億的十八項措施（三）</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5 / 30</a:t>
            </a:r>
            <a:endParaRPr lang="en-US" sz="1150" dirty="0"/>
          </a:p>
        </p:txBody>
      </p:sp>
      <p:sp>
        <p:nvSpPr>
          <p:cNvPr id="7" name="Text 5"/>
          <p:cNvSpPr/>
          <p:nvPr/>
        </p:nvSpPr>
        <p:spPr>
          <a:xfrm>
            <a:off x="658368" y="196596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7</a:t>
            </a:r>
            <a:endParaRPr lang="en-US" sz="2530" dirty="0"/>
          </a:p>
        </p:txBody>
      </p:sp>
      <p:sp>
        <p:nvSpPr>
          <p:cNvPr id="8" name="Text 6"/>
          <p:cNvSpPr/>
          <p:nvPr/>
        </p:nvSpPr>
        <p:spPr>
          <a:xfrm>
            <a:off x="1316736" y="1947672"/>
            <a:ext cx="10216591" cy="737006"/>
          </a:xfrm>
          <a:prstGeom prst="rect">
            <a:avLst/>
          </a:prstGeom>
          <a:noFill/>
          <a:ln/>
        </p:spPr>
        <p:txBody>
          <a:bodyPr wrap="square" rtlCol="0" anchor="t"/>
          <a:lstStyle/>
          <a:p>
            <a:pPr algn="l" indent="0" marL="0">
              <a:lnSpc>
                <a:spcPct val="132000"/>
              </a:lnSpc>
              <a:buNone/>
            </a:pPr>
            <a:r>
              <a:rPr lang="en-US" sz="1550" b="1" dirty="0">
                <a:solidFill>
                  <a:srgbClr val="1B1B18"/>
                </a:solidFill>
                <a:latin typeface="Heiti TC" pitchFamily="34" charset="0"/>
                <a:ea typeface="Heiti TC" pitchFamily="34" charset="-122"/>
                <a:cs typeface="Heiti TC" pitchFamily="34" charset="-120"/>
              </a:rPr>
              <a:t>兒童醫療保健擴大</a:t>
            </a:r>
            <a:pPr algn="l" indent="0" marL="0">
              <a:lnSpc>
                <a:spcPct val="132000"/>
              </a:lnSpc>
              <a:buNone/>
            </a:pPr>
            <a:r>
              <a:rPr lang="en-US" sz="1550" dirty="0">
                <a:solidFill>
                  <a:srgbClr val="6E6A62"/>
                </a:solidFill>
                <a:latin typeface="Heiti TC" pitchFamily="34" charset="0"/>
                <a:ea typeface="Heiti TC" pitchFamily="34" charset="-122"/>
                <a:cs typeface="Heiti TC" pitchFamily="34" charset="-120"/>
              </a:rPr>
              <a:t>　新生兒 22 項疾病篩檢全免費，兒童預防保健補助增至 9 次，幼兒專責醫師從 0–3 歲擴大到 6 歲。</a:t>
            </a:r>
            <a:endParaRPr lang="en-US" sz="1550" dirty="0"/>
          </a:p>
        </p:txBody>
      </p:sp>
      <p:sp>
        <p:nvSpPr>
          <p:cNvPr id="9" name="Text 7"/>
          <p:cNvSpPr/>
          <p:nvPr/>
        </p:nvSpPr>
        <p:spPr>
          <a:xfrm>
            <a:off x="658368" y="284927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8</a:t>
            </a:r>
            <a:endParaRPr lang="en-US" sz="2530" dirty="0"/>
          </a:p>
        </p:txBody>
      </p:sp>
      <p:sp>
        <p:nvSpPr>
          <p:cNvPr id="10" name="Text 8"/>
          <p:cNvSpPr/>
          <p:nvPr/>
        </p:nvSpPr>
        <p:spPr>
          <a:xfrm>
            <a:off x="1316736" y="2830982"/>
            <a:ext cx="10216591" cy="737006"/>
          </a:xfrm>
          <a:prstGeom prst="rect">
            <a:avLst/>
          </a:prstGeom>
          <a:noFill/>
          <a:ln/>
        </p:spPr>
        <p:txBody>
          <a:bodyPr wrap="square" rtlCol="0" anchor="t"/>
          <a:lstStyle/>
          <a:p>
            <a:pPr algn="l" indent="0" marL="0">
              <a:lnSpc>
                <a:spcPct val="132000"/>
              </a:lnSpc>
              <a:buNone/>
            </a:pPr>
            <a:r>
              <a:rPr lang="en-US" sz="1550" b="1" dirty="0">
                <a:solidFill>
                  <a:srgbClr val="1B1B18"/>
                </a:solidFill>
                <a:latin typeface="Heiti TC" pitchFamily="34" charset="0"/>
                <a:ea typeface="Heiti TC" pitchFamily="34" charset="-122"/>
                <a:cs typeface="Heiti TC" pitchFamily="34" charset="-120"/>
              </a:rPr>
              <a:t>擴大平價幼保量能</a:t>
            </a:r>
            <a:pPr algn="l" indent="0" marL="0">
              <a:lnSpc>
                <a:spcPct val="132000"/>
              </a:lnSpc>
              <a:buNone/>
            </a:pPr>
            <a:r>
              <a:rPr lang="en-US" sz="1550" dirty="0">
                <a:solidFill>
                  <a:srgbClr val="6E6A62"/>
                </a:solidFill>
                <a:latin typeface="Heiti TC" pitchFamily="34" charset="0"/>
                <a:ea typeface="Heiti TC" pitchFamily="34" charset="-122"/>
                <a:cs typeface="Heiti TC" pitchFamily="34" charset="-120"/>
              </a:rPr>
              <a:t>　持續布建公幼、準公幼、公托與準公托，並推動公部門、國營事業增設托嬰中心及幼兒園，增加托育地點與可近性。</a:t>
            </a:r>
            <a:endParaRPr lang="en-US" sz="1550" dirty="0"/>
          </a:p>
        </p:txBody>
      </p:sp>
      <p:sp>
        <p:nvSpPr>
          <p:cNvPr id="11" name="Text 9"/>
          <p:cNvSpPr/>
          <p:nvPr/>
        </p:nvSpPr>
        <p:spPr>
          <a:xfrm>
            <a:off x="658368" y="3732581"/>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9</a:t>
            </a:r>
            <a:endParaRPr lang="en-US" sz="2530" dirty="0"/>
          </a:p>
        </p:txBody>
      </p:sp>
      <p:sp>
        <p:nvSpPr>
          <p:cNvPr id="12" name="Text 10"/>
          <p:cNvSpPr/>
          <p:nvPr/>
        </p:nvSpPr>
        <p:spPr>
          <a:xfrm>
            <a:off x="1316736" y="3714293"/>
            <a:ext cx="10216591" cy="737006"/>
          </a:xfrm>
          <a:prstGeom prst="rect">
            <a:avLst/>
          </a:prstGeom>
          <a:noFill/>
          <a:ln/>
        </p:spPr>
        <p:txBody>
          <a:bodyPr wrap="square" rtlCol="0" anchor="t"/>
          <a:lstStyle/>
          <a:p>
            <a:pPr algn="l" indent="0" marL="0">
              <a:lnSpc>
                <a:spcPct val="132000"/>
              </a:lnSpc>
              <a:buNone/>
            </a:pPr>
            <a:r>
              <a:rPr lang="en-US" sz="1550" b="1" dirty="0">
                <a:solidFill>
                  <a:srgbClr val="1B1B18"/>
                </a:solidFill>
                <a:latin typeface="Heiti TC" pitchFamily="34" charset="0"/>
                <a:ea typeface="Heiti TC" pitchFamily="34" charset="-122"/>
                <a:cs typeface="Heiti TC" pitchFamily="34" charset="-120"/>
              </a:rPr>
              <a:t>企業托育租稅優惠</a:t>
            </a:r>
            <a:pPr algn="l" indent="0" marL="0">
              <a:lnSpc>
                <a:spcPct val="132000"/>
              </a:lnSpc>
              <a:buNone/>
            </a:pPr>
            <a:r>
              <a:rPr lang="en-US" sz="1550" dirty="0">
                <a:solidFill>
                  <a:srgbClr val="6E6A62"/>
                </a:solidFill>
                <a:latin typeface="Heiti TC" pitchFamily="34" charset="0"/>
                <a:ea typeface="Heiti TC" pitchFamily="34" charset="-122"/>
                <a:cs typeface="Heiti TC" pitchFamily="34" charset="-120"/>
              </a:rPr>
              <a:t>　企業托育支出可自營利事業所得額中加倍減除至 200%，並提供自辦托育、新建托兒設施補助最高 500 萬元。</a:t>
            </a:r>
            <a:endParaRPr lang="en-US" sz="1550" dirty="0"/>
          </a:p>
        </p:txBody>
      </p:sp>
      <p:sp>
        <p:nvSpPr>
          <p:cNvPr id="13" name="Text 11"/>
          <p:cNvSpPr/>
          <p:nvPr/>
        </p:nvSpPr>
        <p:spPr>
          <a:xfrm>
            <a:off x="658368" y="4615891"/>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10</a:t>
            </a:r>
            <a:endParaRPr lang="en-US" sz="2530" dirty="0"/>
          </a:p>
        </p:txBody>
      </p:sp>
      <p:sp>
        <p:nvSpPr>
          <p:cNvPr id="14" name="Text 12"/>
          <p:cNvSpPr/>
          <p:nvPr/>
        </p:nvSpPr>
        <p:spPr>
          <a:xfrm>
            <a:off x="1316736" y="4597603"/>
            <a:ext cx="10216591" cy="737006"/>
          </a:xfrm>
          <a:prstGeom prst="rect">
            <a:avLst/>
          </a:prstGeom>
          <a:noFill/>
          <a:ln/>
        </p:spPr>
        <p:txBody>
          <a:bodyPr wrap="square" rtlCol="0" anchor="t"/>
          <a:lstStyle/>
          <a:p>
            <a:pPr algn="l" indent="0" marL="0">
              <a:lnSpc>
                <a:spcPct val="132000"/>
              </a:lnSpc>
              <a:buNone/>
            </a:pPr>
            <a:r>
              <a:rPr lang="en-US" sz="1550" b="1" dirty="0">
                <a:solidFill>
                  <a:srgbClr val="1B1B18"/>
                </a:solidFill>
                <a:latin typeface="Heiti TC" pitchFamily="34" charset="0"/>
                <a:ea typeface="Heiti TC" pitchFamily="34" charset="-122"/>
                <a:cs typeface="Heiti TC" pitchFamily="34" charset="-120"/>
              </a:rPr>
              <a:t>學貸利率再調降</a:t>
            </a:r>
            <a:pPr algn="l" indent="0" marL="0">
              <a:lnSpc>
                <a:spcPct val="132000"/>
              </a:lnSpc>
              <a:buNone/>
            </a:pPr>
            <a:r>
              <a:rPr lang="en-US" sz="1550" dirty="0">
                <a:solidFill>
                  <a:srgbClr val="6E6A62"/>
                </a:solidFill>
                <a:latin typeface="Heiti TC" pitchFamily="34" charset="0"/>
                <a:ea typeface="Heiti TC" pitchFamily="34" charset="-122"/>
                <a:cs typeface="Heiti TC" pitchFamily="34" charset="-120"/>
              </a:rPr>
              <a:t>　學貸利率 1.775% 降為 0.775%（降 1 個百分點），還款展延加 1 年，差額由政府負擔。</a:t>
            </a:r>
            <a:endParaRPr lang="en-US" sz="1550" dirty="0"/>
          </a:p>
        </p:txBody>
      </p:sp>
      <p:sp>
        <p:nvSpPr>
          <p:cNvPr id="15" name="Text 13"/>
          <p:cNvSpPr/>
          <p:nvPr/>
        </p:nvSpPr>
        <p:spPr>
          <a:xfrm>
            <a:off x="658368" y="5499202"/>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11</a:t>
            </a:r>
            <a:endParaRPr lang="en-US" sz="2530" dirty="0"/>
          </a:p>
        </p:txBody>
      </p:sp>
      <p:sp>
        <p:nvSpPr>
          <p:cNvPr id="16" name="Text 14"/>
          <p:cNvSpPr/>
          <p:nvPr/>
        </p:nvSpPr>
        <p:spPr>
          <a:xfrm>
            <a:off x="1316736" y="5480914"/>
            <a:ext cx="10216591" cy="737006"/>
          </a:xfrm>
          <a:prstGeom prst="rect">
            <a:avLst/>
          </a:prstGeom>
          <a:noFill/>
          <a:ln/>
        </p:spPr>
        <p:txBody>
          <a:bodyPr wrap="square" rtlCol="0" anchor="t"/>
          <a:lstStyle/>
          <a:p>
            <a:pPr algn="l" indent="0" marL="0">
              <a:lnSpc>
                <a:spcPct val="132000"/>
              </a:lnSpc>
              <a:buNone/>
            </a:pPr>
            <a:r>
              <a:rPr lang="en-US" sz="1550" b="1" dirty="0">
                <a:solidFill>
                  <a:srgbClr val="1B1B18"/>
                </a:solidFill>
                <a:latin typeface="Heiti TC" pitchFamily="34" charset="0"/>
                <a:ea typeface="Heiti TC" pitchFamily="34" charset="-122"/>
                <a:cs typeface="Heiti TC" pitchFamily="34" charset="-120"/>
              </a:rPr>
              <a:t>青年安心就學三項支持</a:t>
            </a:r>
            <a:pPr algn="l" indent="0" marL="0">
              <a:lnSpc>
                <a:spcPct val="132000"/>
              </a:lnSpc>
              <a:buNone/>
            </a:pPr>
            <a:r>
              <a:rPr lang="en-US" sz="1550" dirty="0">
                <a:solidFill>
                  <a:srgbClr val="6E6A62"/>
                </a:solidFill>
                <a:latin typeface="Heiti TC" pitchFamily="34" charset="0"/>
                <a:ea typeface="Heiti TC" pitchFamily="34" charset="-122"/>
                <a:cs typeface="Heiti TC" pitchFamily="34" charset="-120"/>
              </a:rPr>
              <a:t>　高中職免學費、私立大專每學年最高補助 3.5 萬元、大專住宿補貼每學期 5,000–7,000 元。</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人口對策新戰略</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每年 3,800 億的十八項措施（四）</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6 / 30</a:t>
            </a:r>
            <a:endParaRPr lang="en-US" sz="1150" dirty="0"/>
          </a:p>
        </p:txBody>
      </p:sp>
      <p:sp>
        <p:nvSpPr>
          <p:cNvPr id="7" name="Text 5"/>
          <p:cNvSpPr/>
          <p:nvPr/>
        </p:nvSpPr>
        <p:spPr>
          <a:xfrm>
            <a:off x="658368" y="196596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12</a:t>
            </a:r>
            <a:endParaRPr lang="en-US" sz="2530" dirty="0"/>
          </a:p>
        </p:txBody>
      </p:sp>
      <p:sp>
        <p:nvSpPr>
          <p:cNvPr id="8" name="Text 6"/>
          <p:cNvSpPr/>
          <p:nvPr/>
        </p:nvSpPr>
        <p:spPr>
          <a:xfrm>
            <a:off x="1316736" y="1947672"/>
            <a:ext cx="10216591" cy="1252728"/>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婚假、產假、陪產假延長</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婚假擴至 14 天、產假擴至 12 週、陪產假擴至 14 天，增加日數的工資由政府補貼。</a:t>
            </a:r>
            <a:endParaRPr lang="en-US" sz="1780" dirty="0"/>
          </a:p>
        </p:txBody>
      </p:sp>
      <p:sp>
        <p:nvSpPr>
          <p:cNvPr id="9" name="Text 7"/>
          <p:cNvSpPr/>
          <p:nvPr/>
        </p:nvSpPr>
        <p:spPr>
          <a:xfrm>
            <a:off x="658368" y="347472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13</a:t>
            </a:r>
            <a:endParaRPr lang="en-US" sz="2530" dirty="0"/>
          </a:p>
        </p:txBody>
      </p:sp>
      <p:sp>
        <p:nvSpPr>
          <p:cNvPr id="10" name="Text 8"/>
          <p:cNvSpPr/>
          <p:nvPr/>
        </p:nvSpPr>
        <p:spPr>
          <a:xfrm>
            <a:off x="1316736" y="3456432"/>
            <a:ext cx="10216591" cy="1252728"/>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育兒留停延長</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雙親各領滿 6 個月育嬰留停津貼後，可各再多領 3 個月，合計最高 18 個月，並提高投保薪資上限，津貼可超過 4 萬元。</a:t>
            </a:r>
            <a:endParaRPr lang="en-US" sz="1780" dirty="0"/>
          </a:p>
        </p:txBody>
      </p:sp>
      <p:sp>
        <p:nvSpPr>
          <p:cNvPr id="11" name="Text 9"/>
          <p:cNvSpPr/>
          <p:nvPr/>
        </p:nvSpPr>
        <p:spPr>
          <a:xfrm>
            <a:off x="658368" y="498348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14</a:t>
            </a:r>
            <a:endParaRPr lang="en-US" sz="2530" dirty="0"/>
          </a:p>
        </p:txBody>
      </p:sp>
      <p:sp>
        <p:nvSpPr>
          <p:cNvPr id="12" name="Text 10"/>
          <p:cNvSpPr/>
          <p:nvPr/>
        </p:nvSpPr>
        <p:spPr>
          <a:xfrm>
            <a:off x="1316736" y="4965192"/>
            <a:ext cx="10216591" cy="1252728"/>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育嬰假升級為育兒假</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育嬰假從 0–3 歲擴大為 0–6 歲，雙親都可按日申請，從 30 日增加到 60 日，兩人合計 120 日。</a:t>
            </a:r>
            <a:endParaRPr lang="en-US" sz="1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人口對策新戰略</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每年 3,800 億的十八項措施（五）</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7 / 30</a:t>
            </a:r>
            <a:endParaRPr lang="en-US" sz="1150" dirty="0"/>
          </a:p>
        </p:txBody>
      </p:sp>
      <p:sp>
        <p:nvSpPr>
          <p:cNvPr id="7" name="Text 5"/>
          <p:cNvSpPr/>
          <p:nvPr/>
        </p:nvSpPr>
        <p:spPr>
          <a:xfrm>
            <a:off x="658368" y="196596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15</a:t>
            </a:r>
            <a:endParaRPr lang="en-US" sz="2530" dirty="0"/>
          </a:p>
        </p:txBody>
      </p:sp>
      <p:sp>
        <p:nvSpPr>
          <p:cNvPr id="8" name="Text 6"/>
          <p:cNvSpPr/>
          <p:nvPr/>
        </p:nvSpPr>
        <p:spPr>
          <a:xfrm>
            <a:off x="1316736" y="1947672"/>
            <a:ext cx="10216591" cy="916686"/>
          </a:xfrm>
          <a:prstGeom prst="rect">
            <a:avLst/>
          </a:prstGeom>
          <a:noFill/>
          <a:ln/>
        </p:spPr>
        <p:txBody>
          <a:bodyPr wrap="square" rtlCol="0" anchor="t"/>
          <a:lstStyle/>
          <a:p>
            <a:pPr algn="l" indent="0" marL="0">
              <a:lnSpc>
                <a:spcPct val="132000"/>
              </a:lnSpc>
              <a:buNone/>
            </a:pPr>
            <a:r>
              <a:rPr lang="en-US" sz="1670" b="1" dirty="0">
                <a:solidFill>
                  <a:srgbClr val="1B1B18"/>
                </a:solidFill>
                <a:latin typeface="Heiti TC" pitchFamily="34" charset="0"/>
                <a:ea typeface="Heiti TC" pitchFamily="34" charset="-122"/>
                <a:cs typeface="Heiti TC" pitchFamily="34" charset="-120"/>
              </a:rPr>
              <a:t>彈性減工時不減薪</a:t>
            </a:r>
            <a:pPr algn="l" indent="0" marL="0">
              <a:lnSpc>
                <a:spcPct val="132000"/>
              </a:lnSpc>
              <a:buNone/>
            </a:pPr>
            <a:r>
              <a:rPr lang="en-US" sz="1670" dirty="0">
                <a:solidFill>
                  <a:srgbClr val="6E6A62"/>
                </a:solidFill>
                <a:latin typeface="Heiti TC" pitchFamily="34" charset="0"/>
                <a:ea typeface="Heiti TC" pitchFamily="34" charset="-122"/>
                <a:cs typeface="Heiti TC" pitchFamily="34" charset="-120"/>
              </a:rPr>
              <a:t>　育兒彈性上下班或減工時，從 0–3 歲延長到 12 歲，勞工每日可減 1 小時工時且不減薪，由政府補助企業全額工資。</a:t>
            </a:r>
            <a:endParaRPr lang="en-US" sz="1670" dirty="0"/>
          </a:p>
        </p:txBody>
      </p:sp>
      <p:sp>
        <p:nvSpPr>
          <p:cNvPr id="9" name="Text 7"/>
          <p:cNvSpPr/>
          <p:nvPr/>
        </p:nvSpPr>
        <p:spPr>
          <a:xfrm>
            <a:off x="658368" y="3083814"/>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16</a:t>
            </a:r>
            <a:endParaRPr lang="en-US" sz="2530" dirty="0"/>
          </a:p>
        </p:txBody>
      </p:sp>
      <p:sp>
        <p:nvSpPr>
          <p:cNvPr id="10" name="Text 8"/>
          <p:cNvSpPr/>
          <p:nvPr/>
        </p:nvSpPr>
        <p:spPr>
          <a:xfrm>
            <a:off x="1316736" y="3065526"/>
            <a:ext cx="10216591" cy="916686"/>
          </a:xfrm>
          <a:prstGeom prst="rect">
            <a:avLst/>
          </a:prstGeom>
          <a:noFill/>
          <a:ln/>
        </p:spPr>
        <p:txBody>
          <a:bodyPr wrap="square" rtlCol="0" anchor="t"/>
          <a:lstStyle/>
          <a:p>
            <a:pPr algn="l" indent="0" marL="0">
              <a:lnSpc>
                <a:spcPct val="132000"/>
              </a:lnSpc>
              <a:buNone/>
            </a:pPr>
            <a:r>
              <a:rPr lang="en-US" sz="1670" b="1" dirty="0">
                <a:solidFill>
                  <a:srgbClr val="1B1B18"/>
                </a:solidFill>
                <a:latin typeface="Heiti TC" pitchFamily="34" charset="0"/>
                <a:ea typeface="Heiti TC" pitchFamily="34" charset="-122"/>
                <a:cs typeface="Heiti TC" pitchFamily="34" charset="-120"/>
              </a:rPr>
              <a:t>企業職代與職替補助</a:t>
            </a:r>
            <a:pPr algn="l" indent="0" marL="0">
              <a:lnSpc>
                <a:spcPct val="132000"/>
              </a:lnSpc>
              <a:buNone/>
            </a:pPr>
            <a:r>
              <a:rPr lang="en-US" sz="1670" dirty="0">
                <a:solidFill>
                  <a:srgbClr val="6E6A62"/>
                </a:solidFill>
                <a:latin typeface="Heiti TC" pitchFamily="34" charset="0"/>
                <a:ea typeface="Heiti TC" pitchFamily="34" charset="-122"/>
                <a:cs typeface="Heiti TC" pitchFamily="34" charset="-120"/>
              </a:rPr>
              <a:t>　短期代理每人每日 800 元；200 人以下企業聘長期替代人力，每名補助 2 萬元。</a:t>
            </a:r>
            <a:endParaRPr lang="en-US" sz="1670" dirty="0"/>
          </a:p>
        </p:txBody>
      </p:sp>
      <p:sp>
        <p:nvSpPr>
          <p:cNvPr id="11" name="Text 9"/>
          <p:cNvSpPr/>
          <p:nvPr/>
        </p:nvSpPr>
        <p:spPr>
          <a:xfrm>
            <a:off x="658368" y="4201668"/>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17</a:t>
            </a:r>
            <a:endParaRPr lang="en-US" sz="2530" dirty="0"/>
          </a:p>
        </p:txBody>
      </p:sp>
      <p:sp>
        <p:nvSpPr>
          <p:cNvPr id="12" name="Text 10"/>
          <p:cNvSpPr/>
          <p:nvPr/>
        </p:nvSpPr>
        <p:spPr>
          <a:xfrm>
            <a:off x="1316736" y="4183380"/>
            <a:ext cx="10216591" cy="916686"/>
          </a:xfrm>
          <a:prstGeom prst="rect">
            <a:avLst/>
          </a:prstGeom>
          <a:noFill/>
          <a:ln/>
        </p:spPr>
        <p:txBody>
          <a:bodyPr wrap="square" rtlCol="0" anchor="t"/>
          <a:lstStyle/>
          <a:p>
            <a:pPr algn="l" indent="0" marL="0">
              <a:lnSpc>
                <a:spcPct val="132000"/>
              </a:lnSpc>
              <a:buNone/>
            </a:pPr>
            <a:r>
              <a:rPr lang="en-US" sz="1670" b="1" dirty="0">
                <a:solidFill>
                  <a:srgbClr val="1B1B18"/>
                </a:solidFill>
                <a:latin typeface="Heiti TC" pitchFamily="34" charset="0"/>
                <a:ea typeface="Heiti TC" pitchFamily="34" charset="-122"/>
                <a:cs typeface="Heiti TC" pitchFamily="34" charset="-120"/>
              </a:rPr>
              <a:t>育兒家庭減稅</a:t>
            </a:r>
            <a:pPr algn="l" indent="0" marL="0">
              <a:lnSpc>
                <a:spcPct val="132000"/>
              </a:lnSpc>
              <a:buNone/>
            </a:pPr>
            <a:r>
              <a:rPr lang="en-US" sz="1670" dirty="0">
                <a:solidFill>
                  <a:srgbClr val="6E6A62"/>
                </a:solidFill>
                <a:latin typeface="Heiti TC" pitchFamily="34" charset="0"/>
                <a:ea typeface="Heiti TC" pitchFamily="34" charset="-122"/>
                <a:cs typeface="Heiti TC" pitchFamily="34" charset="-120"/>
              </a:rPr>
              <a:t>　除未滿 6 歲幼兒學前特別扣除額、70 歲以上長者免稅額增加 50% 外，再加碼未成年子女免稅額增加 50%。</a:t>
            </a:r>
            <a:endParaRPr lang="en-US" sz="1670" dirty="0"/>
          </a:p>
        </p:txBody>
      </p:sp>
      <p:sp>
        <p:nvSpPr>
          <p:cNvPr id="13" name="Text 11"/>
          <p:cNvSpPr/>
          <p:nvPr/>
        </p:nvSpPr>
        <p:spPr>
          <a:xfrm>
            <a:off x="658368" y="5319522"/>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18</a:t>
            </a:r>
            <a:endParaRPr lang="en-US" sz="2530" dirty="0"/>
          </a:p>
        </p:txBody>
      </p:sp>
      <p:sp>
        <p:nvSpPr>
          <p:cNvPr id="14" name="Text 12"/>
          <p:cNvSpPr/>
          <p:nvPr/>
        </p:nvSpPr>
        <p:spPr>
          <a:xfrm>
            <a:off x="1316736" y="5301234"/>
            <a:ext cx="10216591" cy="916686"/>
          </a:xfrm>
          <a:prstGeom prst="rect">
            <a:avLst/>
          </a:prstGeom>
          <a:noFill/>
          <a:ln/>
        </p:spPr>
        <p:txBody>
          <a:bodyPr wrap="square" rtlCol="0" anchor="t"/>
          <a:lstStyle/>
          <a:p>
            <a:pPr algn="l" indent="0" marL="0">
              <a:lnSpc>
                <a:spcPct val="132000"/>
              </a:lnSpc>
              <a:buNone/>
            </a:pPr>
            <a:r>
              <a:rPr lang="en-US" sz="1670" b="1" dirty="0">
                <a:solidFill>
                  <a:srgbClr val="1B1B18"/>
                </a:solidFill>
                <a:latin typeface="Heiti TC" pitchFamily="34" charset="0"/>
                <a:ea typeface="Heiti TC" pitchFamily="34" charset="-122"/>
                <a:cs typeface="Heiti TC" pitchFamily="34" charset="-120"/>
              </a:rPr>
              <a:t>婚育家庭居住減壓</a:t>
            </a:r>
            <a:pPr algn="l" indent="0" marL="0">
              <a:lnSpc>
                <a:spcPct val="132000"/>
              </a:lnSpc>
              <a:buNone/>
            </a:pPr>
            <a:r>
              <a:rPr lang="en-US" sz="1670" dirty="0">
                <a:solidFill>
                  <a:srgbClr val="6E6A62"/>
                </a:solidFill>
                <a:latin typeface="Heiti TC" pitchFamily="34" charset="0"/>
                <a:ea typeface="Heiti TC" pitchFamily="34" charset="-122"/>
                <a:cs typeface="Heiti TC" pitchFamily="34" charset="-120"/>
              </a:rPr>
              <a:t>　授權地方政府減免婚育家庭自住房屋稅與地價稅。</a:t>
            </a:r>
            <a:endParaRPr lang="en-US" sz="16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關鍵數據 · 1951–2025</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2760" b="1" dirty="0">
                <a:solidFill>
                  <a:srgbClr val="1B1B18"/>
                </a:solidFill>
                <a:latin typeface="Songti TC" pitchFamily="34" charset="0"/>
                <a:ea typeface="Songti TC" pitchFamily="34" charset="-122"/>
                <a:cs typeface="Songti TC" pitchFamily="34" charset="-120"/>
              </a:rPr>
              <a:t>臺灣出生數與總生育率：1951–2025</a:t>
            </a:r>
            <a:endParaRPr lang="en-US" sz="276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8 / 30</a:t>
            </a:r>
            <a:endParaRPr lang="en-US" sz="1150" dirty="0"/>
          </a:p>
        </p:txBody>
      </p:sp>
      <p:sp>
        <p:nvSpPr>
          <p:cNvPr id="7" name="Text 5"/>
          <p:cNvSpPr/>
          <p:nvPr/>
        </p:nvSpPr>
        <p:spPr>
          <a:xfrm>
            <a:off x="658368" y="1865376"/>
            <a:ext cx="10874959" cy="256032"/>
          </a:xfrm>
          <a:prstGeom prst="rect">
            <a:avLst/>
          </a:prstGeom>
          <a:noFill/>
          <a:ln/>
        </p:spPr>
        <p:txBody>
          <a:bodyPr wrap="square" rtlCol="0" anchor="ctr"/>
          <a:lstStyle/>
          <a:p>
            <a:pPr algn="l" indent="0" marL="0">
              <a:buNone/>
            </a:pPr>
            <a:r>
              <a:rPr lang="en-US" sz="1380" dirty="0">
                <a:solidFill>
                  <a:srgbClr val="E0A26E"/>
                </a:solidFill>
                <a:latin typeface="Heiti TC" pitchFamily="34" charset="0"/>
                <a:ea typeface="Heiti TC" pitchFamily="34" charset="-122"/>
                <a:cs typeface="Heiti TC" pitchFamily="34" charset="-120"/>
              </a:rPr>
              <a:t>▮ </a:t>
            </a:r>
            <a:pPr algn="l" indent="0" marL="0">
              <a:buNone/>
            </a:pPr>
            <a:r>
              <a:rPr lang="en-US" sz="1260" dirty="0">
                <a:solidFill>
                  <a:srgbClr val="38352E"/>
                </a:solidFill>
                <a:latin typeface="Heiti TC" pitchFamily="34" charset="0"/>
                <a:ea typeface="Heiti TC" pitchFamily="34" charset="-122"/>
                <a:cs typeface="Heiti TC" pitchFamily="34" charset="-120"/>
              </a:rPr>
              <a:t>出生數（左軸）　　</a:t>
            </a:r>
            <a:pPr algn="l" indent="0" marL="0">
              <a:buNone/>
            </a:pPr>
            <a:r>
              <a:rPr lang="en-US" sz="1380" b="1" dirty="0">
                <a:solidFill>
                  <a:srgbClr val="0E4536"/>
                </a:solidFill>
                <a:latin typeface="Heiti TC" pitchFamily="34" charset="0"/>
                <a:ea typeface="Heiti TC" pitchFamily="34" charset="-122"/>
                <a:cs typeface="Heiti TC" pitchFamily="34" charset="-120"/>
              </a:rPr>
              <a:t>─── </a:t>
            </a:r>
            <a:pPr algn="l" indent="0" marL="0">
              <a:buNone/>
            </a:pPr>
            <a:r>
              <a:rPr lang="en-US" sz="1260" dirty="0">
                <a:solidFill>
                  <a:srgbClr val="38352E"/>
                </a:solidFill>
                <a:latin typeface="Heiti TC" pitchFamily="34" charset="0"/>
                <a:ea typeface="Heiti TC" pitchFamily="34" charset="-122"/>
                <a:cs typeface="Heiti TC" pitchFamily="34" charset="-120"/>
              </a:rPr>
              <a:t>總生育率 TFR（右軸）</a:t>
            </a:r>
            <a:endParaRPr lang="en-US" sz="1380" dirty="0"/>
          </a:p>
        </p:txBody>
      </p:sp>
      <p:graphicFrame>
        <p:nvGraphicFramePr>
          <p:cNvPr id="8" name="Chart 0" descr=""/>
          <p:cNvGraphicFramePr/>
          <p:nvPr/>
        </p:nvGraphicFramePr>
        <p:xfrm>
          <a:off x="658368" y="2176272"/>
          <a:ext cx="10874959" cy="36576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1162952" y="2482912"/>
            <a:ext cx="1005840" cy="182880"/>
          </a:xfrm>
          <a:prstGeom prst="rect">
            <a:avLst/>
          </a:prstGeom>
          <a:noFill/>
          <a:ln/>
        </p:spPr>
        <p:txBody>
          <a:bodyPr wrap="square" rtlCol="0" anchor="ctr"/>
          <a:lstStyle/>
          <a:p>
            <a:pPr algn="ctr" indent="0" marL="0">
              <a:buNone/>
            </a:pPr>
            <a:r>
              <a:rPr lang="en-US" sz="980" b="1" dirty="0">
                <a:solidFill>
                  <a:srgbClr val="8C5A2E"/>
                </a:solidFill>
                <a:latin typeface="Georgia" pitchFamily="34" charset="0"/>
                <a:ea typeface="Georgia" pitchFamily="34" charset="-122"/>
                <a:cs typeface="Georgia" pitchFamily="34" charset="-120"/>
              </a:rPr>
              <a:t>385,383</a:t>
            </a:r>
            <a:endParaRPr lang="en-US" sz="980" dirty="0"/>
          </a:p>
        </p:txBody>
      </p:sp>
      <p:sp>
        <p:nvSpPr>
          <p:cNvPr id="10" name="Text 7"/>
          <p:cNvSpPr/>
          <p:nvPr/>
        </p:nvSpPr>
        <p:spPr>
          <a:xfrm>
            <a:off x="1455560" y="2583729"/>
            <a:ext cx="566928" cy="182880"/>
          </a:xfrm>
          <a:prstGeom prst="rect">
            <a:avLst/>
          </a:prstGeom>
          <a:noFill/>
          <a:ln/>
        </p:spPr>
        <p:txBody>
          <a:bodyPr wrap="square" rtlCol="0" anchor="ctr"/>
          <a:lstStyle/>
          <a:p>
            <a:pPr algn="l" indent="0" marL="0">
              <a:buNone/>
            </a:pPr>
            <a:r>
              <a:rPr lang="en-US" sz="980" b="1" dirty="0">
                <a:solidFill>
                  <a:srgbClr val="0E4536"/>
                </a:solidFill>
                <a:latin typeface="Georgia" pitchFamily="34" charset="0"/>
                <a:ea typeface="Georgia" pitchFamily="34" charset="-122"/>
                <a:cs typeface="Georgia" pitchFamily="34" charset="-120"/>
              </a:rPr>
              <a:t>7.04</a:t>
            </a:r>
            <a:endParaRPr lang="en-US" sz="980" dirty="0"/>
          </a:p>
        </p:txBody>
      </p:sp>
      <p:sp>
        <p:nvSpPr>
          <p:cNvPr id="11" name="Text 8"/>
          <p:cNvSpPr/>
          <p:nvPr/>
        </p:nvSpPr>
        <p:spPr>
          <a:xfrm>
            <a:off x="2794790" y="2278756"/>
            <a:ext cx="1005840" cy="182880"/>
          </a:xfrm>
          <a:prstGeom prst="rect">
            <a:avLst/>
          </a:prstGeom>
          <a:noFill/>
          <a:ln/>
        </p:spPr>
        <p:txBody>
          <a:bodyPr wrap="square" rtlCol="0" anchor="ctr"/>
          <a:lstStyle/>
          <a:p>
            <a:pPr algn="ctr" indent="0" marL="0">
              <a:buNone/>
            </a:pPr>
            <a:r>
              <a:rPr lang="en-US" sz="980" b="1" dirty="0">
                <a:solidFill>
                  <a:srgbClr val="8C5A2E"/>
                </a:solidFill>
                <a:latin typeface="Georgia" pitchFamily="34" charset="0"/>
                <a:ea typeface="Georgia" pitchFamily="34" charset="-122"/>
                <a:cs typeface="Georgia" pitchFamily="34" charset="-120"/>
              </a:rPr>
              <a:t>415,108</a:t>
            </a:r>
            <a:endParaRPr lang="en-US" sz="980" dirty="0"/>
          </a:p>
        </p:txBody>
      </p:sp>
      <p:sp>
        <p:nvSpPr>
          <p:cNvPr id="12" name="Text 9"/>
          <p:cNvSpPr/>
          <p:nvPr/>
        </p:nvSpPr>
        <p:spPr>
          <a:xfrm>
            <a:off x="3343430" y="3516474"/>
            <a:ext cx="566928" cy="182880"/>
          </a:xfrm>
          <a:prstGeom prst="rect">
            <a:avLst/>
          </a:prstGeom>
          <a:noFill/>
          <a:ln/>
        </p:spPr>
        <p:txBody>
          <a:bodyPr wrap="square" rtlCol="0" anchor="ctr"/>
          <a:lstStyle/>
          <a:p>
            <a:pPr algn="l" indent="0" marL="0">
              <a:buNone/>
            </a:pPr>
            <a:r>
              <a:rPr lang="en-US" sz="980" b="1" dirty="0">
                <a:solidFill>
                  <a:srgbClr val="0E4536"/>
                </a:solidFill>
                <a:latin typeface="Georgia" pitchFamily="34" charset="0"/>
                <a:ea typeface="Georgia" pitchFamily="34" charset="-122"/>
                <a:cs typeface="Georgia" pitchFamily="34" charset="-120"/>
              </a:rPr>
              <a:t>4.83</a:t>
            </a:r>
            <a:endParaRPr lang="en-US" sz="980" dirty="0"/>
          </a:p>
        </p:txBody>
      </p:sp>
      <p:sp>
        <p:nvSpPr>
          <p:cNvPr id="13" name="Text 10"/>
          <p:cNvSpPr/>
          <p:nvPr/>
        </p:nvSpPr>
        <p:spPr>
          <a:xfrm>
            <a:off x="4764957" y="2285892"/>
            <a:ext cx="1005840" cy="182880"/>
          </a:xfrm>
          <a:prstGeom prst="rect">
            <a:avLst/>
          </a:prstGeom>
          <a:noFill/>
          <a:ln/>
        </p:spPr>
        <p:txBody>
          <a:bodyPr wrap="square" rtlCol="0" anchor="ctr"/>
          <a:lstStyle/>
          <a:p>
            <a:pPr algn="ctr" indent="0" marL="0">
              <a:buNone/>
            </a:pPr>
            <a:r>
              <a:rPr lang="en-US" sz="980" b="1" dirty="0">
                <a:solidFill>
                  <a:srgbClr val="8C5A2E"/>
                </a:solidFill>
                <a:latin typeface="Georgia" pitchFamily="34" charset="0"/>
                <a:ea typeface="Georgia" pitchFamily="34" charset="-122"/>
                <a:cs typeface="Georgia" pitchFamily="34" charset="-120"/>
              </a:rPr>
              <a:t>414,069</a:t>
            </a:r>
            <a:endParaRPr lang="en-US" sz="980" dirty="0"/>
          </a:p>
        </p:txBody>
      </p:sp>
      <p:sp>
        <p:nvSpPr>
          <p:cNvPr id="14" name="Text 11"/>
          <p:cNvSpPr/>
          <p:nvPr/>
        </p:nvSpPr>
        <p:spPr>
          <a:xfrm>
            <a:off x="5313597" y="4428222"/>
            <a:ext cx="566928" cy="182880"/>
          </a:xfrm>
          <a:prstGeom prst="rect">
            <a:avLst/>
          </a:prstGeom>
          <a:noFill/>
          <a:ln/>
        </p:spPr>
        <p:txBody>
          <a:bodyPr wrap="square" rtlCol="0" anchor="ctr"/>
          <a:lstStyle/>
          <a:p>
            <a:pPr algn="l" indent="0" marL="0">
              <a:buNone/>
            </a:pPr>
            <a:r>
              <a:rPr lang="en-US" sz="980" b="1" dirty="0">
                <a:solidFill>
                  <a:srgbClr val="0E4536"/>
                </a:solidFill>
                <a:latin typeface="Georgia" pitchFamily="34" charset="0"/>
                <a:ea typeface="Georgia" pitchFamily="34" charset="-122"/>
                <a:cs typeface="Georgia" pitchFamily="34" charset="-120"/>
              </a:rPr>
              <a:t>2.46</a:t>
            </a:r>
            <a:endParaRPr lang="en-US" sz="980" dirty="0"/>
          </a:p>
        </p:txBody>
      </p:sp>
      <p:sp>
        <p:nvSpPr>
          <p:cNvPr id="15" name="Text 12"/>
          <p:cNvSpPr/>
          <p:nvPr/>
        </p:nvSpPr>
        <p:spPr>
          <a:xfrm>
            <a:off x="6735123" y="2893889"/>
            <a:ext cx="1005840" cy="182880"/>
          </a:xfrm>
          <a:prstGeom prst="rect">
            <a:avLst/>
          </a:prstGeom>
          <a:noFill/>
          <a:ln/>
        </p:spPr>
        <p:txBody>
          <a:bodyPr wrap="square" rtlCol="0" anchor="ctr"/>
          <a:lstStyle/>
          <a:p>
            <a:pPr algn="ctr" indent="0" marL="0">
              <a:buNone/>
            </a:pPr>
            <a:r>
              <a:rPr lang="en-US" sz="980" b="1" dirty="0">
                <a:solidFill>
                  <a:srgbClr val="8C5A2E"/>
                </a:solidFill>
                <a:latin typeface="Georgia" pitchFamily="34" charset="0"/>
                <a:ea typeface="Georgia" pitchFamily="34" charset="-122"/>
                <a:cs typeface="Georgia" pitchFamily="34" charset="-120"/>
              </a:rPr>
              <a:t>325,545</a:t>
            </a:r>
            <a:endParaRPr lang="en-US" sz="980" dirty="0"/>
          </a:p>
        </p:txBody>
      </p:sp>
      <p:sp>
        <p:nvSpPr>
          <p:cNvPr id="16" name="Text 13"/>
          <p:cNvSpPr/>
          <p:nvPr/>
        </p:nvSpPr>
        <p:spPr>
          <a:xfrm>
            <a:off x="7283763" y="4696724"/>
            <a:ext cx="566928" cy="182880"/>
          </a:xfrm>
          <a:prstGeom prst="rect">
            <a:avLst/>
          </a:prstGeom>
          <a:noFill/>
          <a:ln/>
        </p:spPr>
        <p:txBody>
          <a:bodyPr wrap="square" rtlCol="0" anchor="ctr"/>
          <a:lstStyle/>
          <a:p>
            <a:pPr algn="l" indent="0" marL="0">
              <a:buNone/>
            </a:pPr>
            <a:r>
              <a:rPr lang="en-US" sz="980" b="1" dirty="0">
                <a:solidFill>
                  <a:srgbClr val="0E4536"/>
                </a:solidFill>
                <a:latin typeface="Georgia" pitchFamily="34" charset="0"/>
                <a:ea typeface="Georgia" pitchFamily="34" charset="-122"/>
                <a:cs typeface="Georgia" pitchFamily="34" charset="-120"/>
              </a:rPr>
              <a:t>1.76</a:t>
            </a:r>
            <a:endParaRPr lang="en-US" sz="980" dirty="0"/>
          </a:p>
        </p:txBody>
      </p:sp>
      <p:sp>
        <p:nvSpPr>
          <p:cNvPr id="17" name="Text 14"/>
          <p:cNvSpPr/>
          <p:nvPr/>
        </p:nvSpPr>
        <p:spPr>
          <a:xfrm>
            <a:off x="8705289" y="3779318"/>
            <a:ext cx="1005840" cy="182880"/>
          </a:xfrm>
          <a:prstGeom prst="rect">
            <a:avLst/>
          </a:prstGeom>
          <a:noFill/>
          <a:ln/>
        </p:spPr>
        <p:txBody>
          <a:bodyPr wrap="square" rtlCol="0" anchor="ctr"/>
          <a:lstStyle/>
          <a:p>
            <a:pPr algn="ctr" indent="0" marL="0">
              <a:buNone/>
            </a:pPr>
            <a:r>
              <a:rPr lang="en-US" sz="980" b="1" dirty="0">
                <a:solidFill>
                  <a:srgbClr val="8C5A2E"/>
                </a:solidFill>
                <a:latin typeface="Georgia" pitchFamily="34" charset="0"/>
                <a:ea typeface="Georgia" pitchFamily="34" charset="-122"/>
                <a:cs typeface="Georgia" pitchFamily="34" charset="-120"/>
              </a:rPr>
              <a:t>196,627</a:t>
            </a:r>
            <a:endParaRPr lang="en-US" sz="980" dirty="0"/>
          </a:p>
        </p:txBody>
      </p:sp>
      <p:sp>
        <p:nvSpPr>
          <p:cNvPr id="18" name="Text 15"/>
          <p:cNvSpPr/>
          <p:nvPr/>
        </p:nvSpPr>
        <p:spPr>
          <a:xfrm>
            <a:off x="9253929" y="4965226"/>
            <a:ext cx="566928" cy="182880"/>
          </a:xfrm>
          <a:prstGeom prst="rect">
            <a:avLst/>
          </a:prstGeom>
          <a:noFill/>
          <a:ln/>
        </p:spPr>
        <p:txBody>
          <a:bodyPr wrap="square" rtlCol="0" anchor="ctr"/>
          <a:lstStyle/>
          <a:p>
            <a:pPr algn="l" indent="0" marL="0">
              <a:buNone/>
            </a:pPr>
            <a:r>
              <a:rPr lang="en-US" sz="980" b="1" dirty="0">
                <a:solidFill>
                  <a:srgbClr val="0E4536"/>
                </a:solidFill>
                <a:latin typeface="Georgia" pitchFamily="34" charset="0"/>
                <a:ea typeface="Georgia" pitchFamily="34" charset="-122"/>
                <a:cs typeface="Georgia" pitchFamily="34" charset="-120"/>
              </a:rPr>
              <a:t>1.07</a:t>
            </a:r>
            <a:endParaRPr lang="en-US" sz="980" dirty="0"/>
          </a:p>
        </p:txBody>
      </p:sp>
      <p:sp>
        <p:nvSpPr>
          <p:cNvPr id="19" name="Text 16"/>
          <p:cNvSpPr/>
          <p:nvPr/>
        </p:nvSpPr>
        <p:spPr>
          <a:xfrm>
            <a:off x="10150078" y="4175206"/>
            <a:ext cx="1005840" cy="182880"/>
          </a:xfrm>
          <a:prstGeom prst="rect">
            <a:avLst/>
          </a:prstGeom>
          <a:noFill/>
          <a:ln/>
        </p:spPr>
        <p:txBody>
          <a:bodyPr wrap="square" rtlCol="0" anchor="ctr"/>
          <a:lstStyle/>
          <a:p>
            <a:pPr algn="ctr" indent="0" marL="0">
              <a:buNone/>
            </a:pPr>
            <a:r>
              <a:rPr lang="en-US" sz="980" b="1" dirty="0">
                <a:solidFill>
                  <a:srgbClr val="8C5A2E"/>
                </a:solidFill>
                <a:latin typeface="Georgia" pitchFamily="34" charset="0"/>
                <a:ea typeface="Georgia" pitchFamily="34" charset="-122"/>
                <a:cs typeface="Georgia" pitchFamily="34" charset="-120"/>
              </a:rPr>
              <a:t>138,986</a:t>
            </a:r>
            <a:endParaRPr lang="en-US" sz="980" dirty="0"/>
          </a:p>
        </p:txBody>
      </p:sp>
      <p:sp>
        <p:nvSpPr>
          <p:cNvPr id="20" name="Text 17"/>
          <p:cNvSpPr/>
          <p:nvPr/>
        </p:nvSpPr>
        <p:spPr>
          <a:xfrm>
            <a:off x="1746522" y="3194914"/>
            <a:ext cx="475488" cy="1691640"/>
          </a:xfrm>
          <a:prstGeom prst="rect">
            <a:avLst/>
          </a:prstGeom>
          <a:solidFill>
            <a:srgbClr val="E7EAEC"/>
          </a:solidFill>
          <a:ln w="9525">
            <a:solidFill>
              <a:srgbClr val="C3CBD3"/>
            </a:solidFill>
          </a:ln>
        </p:spPr>
        <p:txBody>
          <a:bodyPr wrap="square" rtlCol="0" anchor="ctr" vert="vert"/>
          <a:lstStyle/>
          <a:p>
            <a:pPr algn="ctr" indent="0" marL="0">
              <a:buNone/>
            </a:pPr>
            <a:r>
              <a:rPr lang="en-US" sz="1090" b="1" dirty="0">
                <a:solidFill>
                  <a:srgbClr val="4E5A64"/>
                </a:solidFill>
                <a:latin typeface="Georgia" pitchFamily="34" charset="0"/>
                <a:ea typeface="Georgia" pitchFamily="34" charset="-122"/>
                <a:cs typeface="Georgia" pitchFamily="34" charset="-120"/>
              </a:rPr>
              <a:t>World Highest level</a:t>
            </a:r>
            <a:endParaRPr lang="en-US" sz="1090" dirty="0"/>
          </a:p>
        </p:txBody>
      </p:sp>
      <p:sp>
        <p:nvSpPr>
          <p:cNvPr id="21" name="Text 18"/>
          <p:cNvSpPr/>
          <p:nvPr/>
        </p:nvSpPr>
        <p:spPr>
          <a:xfrm>
            <a:off x="5949544" y="3297936"/>
            <a:ext cx="475488" cy="1691640"/>
          </a:xfrm>
          <a:prstGeom prst="rect">
            <a:avLst/>
          </a:prstGeom>
          <a:solidFill>
            <a:srgbClr val="E7EAEC"/>
          </a:solidFill>
          <a:ln w="9525">
            <a:solidFill>
              <a:srgbClr val="C3CBD3"/>
            </a:solidFill>
          </a:ln>
        </p:spPr>
        <p:txBody>
          <a:bodyPr wrap="square" rtlCol="0" anchor="ctr" vert="vert"/>
          <a:lstStyle/>
          <a:p>
            <a:pPr algn="ctr" indent="0" marL="0">
              <a:buNone/>
            </a:pPr>
            <a:r>
              <a:rPr lang="en-US" sz="1090" b="1" dirty="0">
                <a:solidFill>
                  <a:srgbClr val="4E5A64"/>
                </a:solidFill>
                <a:latin typeface="Georgia" pitchFamily="34" charset="0"/>
                <a:ea typeface="Georgia" pitchFamily="34" charset="-122"/>
                <a:cs typeface="Georgia" pitchFamily="34" charset="-120"/>
              </a:rPr>
              <a:t>Modernization</a:t>
            </a:r>
            <a:endParaRPr lang="en-US" sz="1090" dirty="0"/>
          </a:p>
        </p:txBody>
      </p:sp>
      <p:sp>
        <p:nvSpPr>
          <p:cNvPr id="22" name="Text 19"/>
          <p:cNvSpPr/>
          <p:nvPr/>
        </p:nvSpPr>
        <p:spPr>
          <a:xfrm>
            <a:off x="9889876" y="2302053"/>
            <a:ext cx="475488" cy="1691640"/>
          </a:xfrm>
          <a:prstGeom prst="rect">
            <a:avLst/>
          </a:prstGeom>
          <a:solidFill>
            <a:srgbClr val="E7EAEC"/>
          </a:solidFill>
          <a:ln w="9525">
            <a:solidFill>
              <a:srgbClr val="C3CBD3"/>
            </a:solidFill>
          </a:ln>
        </p:spPr>
        <p:txBody>
          <a:bodyPr wrap="square" rtlCol="0" anchor="ctr" vert="vert"/>
          <a:lstStyle/>
          <a:p>
            <a:pPr algn="ctr" indent="0" marL="0">
              <a:buNone/>
            </a:pPr>
            <a:r>
              <a:rPr lang="en-US" sz="1090" b="1" dirty="0">
                <a:solidFill>
                  <a:srgbClr val="4E5A64"/>
                </a:solidFill>
                <a:latin typeface="Georgia" pitchFamily="34" charset="0"/>
                <a:ea typeface="Georgia" pitchFamily="34" charset="-122"/>
                <a:cs typeface="Georgia" pitchFamily="34" charset="-120"/>
              </a:rPr>
              <a:t>World Lowest level</a:t>
            </a:r>
            <a:endParaRPr lang="en-US" sz="1090" dirty="0"/>
          </a:p>
        </p:txBody>
      </p:sp>
      <p:sp>
        <p:nvSpPr>
          <p:cNvPr id="23" name="Text 20"/>
          <p:cNvSpPr/>
          <p:nvPr/>
        </p:nvSpPr>
        <p:spPr>
          <a:xfrm>
            <a:off x="658368" y="5961888"/>
            <a:ext cx="10874959" cy="310896"/>
          </a:xfrm>
          <a:prstGeom prst="rect">
            <a:avLst/>
          </a:prstGeom>
          <a:noFill/>
          <a:ln/>
        </p:spPr>
        <p:txBody>
          <a:bodyPr wrap="square" rtlCol="0" anchor="ctr"/>
          <a:lstStyle/>
          <a:p>
            <a:pPr indent="0" marL="0">
              <a:buNone/>
            </a:pPr>
            <a:r>
              <a:rPr lang="en-US" sz="1320" i="1" dirty="0">
                <a:solidFill>
                  <a:srgbClr val="6E6A62"/>
                </a:solidFill>
                <a:latin typeface="Heiti TC" pitchFamily="34" charset="0"/>
                <a:ea typeface="Heiti TC" pitchFamily="34" charset="-122"/>
                <a:cs typeface="Heiti TC" pitchFamily="34" charset="-120"/>
              </a:rPr>
              <a:t>總生育率（TFR）：平均一位婦女於育齡（15–49 歲）期間的總生育量。</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關鍵數據 · 平均壽命</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2760" b="1" dirty="0">
                <a:solidFill>
                  <a:srgbClr val="1B1B18"/>
                </a:solidFill>
                <a:latin typeface="Songti TC" pitchFamily="34" charset="0"/>
                <a:ea typeface="Songti TC" pitchFamily="34" charset="-122"/>
                <a:cs typeface="Songti TC" pitchFamily="34" charset="-120"/>
              </a:rPr>
              <a:t>臺灣地區零歲平均餘命（俗稱平均壽命）</a:t>
            </a:r>
            <a:endParaRPr lang="en-US" sz="276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9 / 30</a:t>
            </a:r>
            <a:endParaRPr lang="en-US" sz="1150" dirty="0"/>
          </a:p>
        </p:txBody>
      </p:sp>
      <p:sp>
        <p:nvSpPr>
          <p:cNvPr id="7" name="Shape 5"/>
          <p:cNvSpPr/>
          <p:nvPr/>
        </p:nvSpPr>
        <p:spPr>
          <a:xfrm>
            <a:off x="658368" y="1920240"/>
            <a:ext cx="10874959" cy="969264"/>
          </a:xfrm>
          <a:prstGeom prst="rect">
            <a:avLst>
              <a:gd name="adj" fmla="val 4717"/>
            </a:avLst>
          </a:prstGeom>
          <a:solidFill>
            <a:srgbClr val="E7EDE8"/>
          </a:solidFill>
          <a:ln w="12700">
            <a:solidFill>
              <a:srgbClr val="CBD8CF"/>
            </a:solidFill>
            <a:prstDash val="solid"/>
          </a:ln>
        </p:spPr>
      </p:sp>
      <p:sp>
        <p:nvSpPr>
          <p:cNvPr id="8" name="Text 6"/>
          <p:cNvSpPr/>
          <p:nvPr/>
        </p:nvSpPr>
        <p:spPr>
          <a:xfrm>
            <a:off x="841248" y="1993392"/>
            <a:ext cx="10509199" cy="841248"/>
          </a:xfrm>
          <a:prstGeom prst="rect">
            <a:avLst/>
          </a:prstGeom>
          <a:noFill/>
          <a:ln/>
        </p:spPr>
        <p:txBody>
          <a:bodyPr wrap="square" rtlCol="0" anchor="t"/>
          <a:lstStyle/>
          <a:p>
            <a:pPr indent="0" marL="0">
              <a:lnSpc>
                <a:spcPct val="130000"/>
              </a:lnSpc>
              <a:buNone/>
            </a:pPr>
            <a:r>
              <a:rPr lang="en-US" sz="1320" dirty="0">
                <a:solidFill>
                  <a:srgbClr val="1B1B18"/>
                </a:solidFill>
                <a:latin typeface="Heiti TC" pitchFamily="34" charset="0"/>
                <a:ea typeface="Heiti TC" pitchFamily="34" charset="-122"/>
                <a:cs typeface="Heiti TC" pitchFamily="34" charset="-120"/>
              </a:rPr>
              <a:t>2020：男 78.1 歲、女 84.7 歲（合計 81.32 歲），分別高於世界平均 7.9 與 9.7 歲；一個世紀以來全球平均增加 34 歲，臺灣增加 44 歲。2021 與 2022 年因疫情下降，2025 年回升至 81.49 歲，男比女少 6.5 歲。</a:t>
            </a:r>
            <a:endParaRPr lang="en-US" sz="1320" dirty="0"/>
          </a:p>
        </p:txBody>
      </p:sp>
      <p:graphicFrame>
        <p:nvGraphicFramePr>
          <p:cNvPr id="9" name="Chart 0" descr=""/>
          <p:cNvGraphicFramePr/>
          <p:nvPr/>
        </p:nvGraphicFramePr>
        <p:xfrm>
          <a:off x="658368" y="3035808"/>
          <a:ext cx="10874959" cy="27432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907253" y="4252082"/>
            <a:ext cx="658368" cy="182880"/>
          </a:xfrm>
          <a:prstGeom prst="rect">
            <a:avLst/>
          </a:prstGeom>
          <a:noFill/>
          <a:ln/>
        </p:spPr>
        <p:txBody>
          <a:bodyPr wrap="square" rtlCol="0" anchor="ctr"/>
          <a:lstStyle/>
          <a:p>
            <a:pPr algn="ctr" indent="0" marL="0">
              <a:buNone/>
            </a:pPr>
            <a:r>
              <a:rPr lang="en-US" sz="980" b="1" dirty="0">
                <a:solidFill>
                  <a:srgbClr val="0E4536"/>
                </a:solidFill>
                <a:latin typeface="Georgia" pitchFamily="34" charset="0"/>
                <a:ea typeface="Georgia" pitchFamily="34" charset="-122"/>
                <a:cs typeface="Georgia" pitchFamily="34" charset="-120"/>
              </a:rPr>
              <a:t>34.12</a:t>
            </a:r>
            <a:endParaRPr lang="en-US" sz="980" dirty="0"/>
          </a:p>
        </p:txBody>
      </p:sp>
      <p:sp>
        <p:nvSpPr>
          <p:cNvPr id="11" name="Text 8"/>
          <p:cNvSpPr/>
          <p:nvPr/>
        </p:nvSpPr>
        <p:spPr>
          <a:xfrm>
            <a:off x="1455893" y="4138209"/>
            <a:ext cx="658368" cy="182880"/>
          </a:xfrm>
          <a:prstGeom prst="rect">
            <a:avLst/>
          </a:prstGeom>
          <a:noFill/>
          <a:ln/>
        </p:spPr>
        <p:txBody>
          <a:bodyPr wrap="square" rtlCol="0" anchor="ctr"/>
          <a:lstStyle/>
          <a:p>
            <a:pPr algn="ctr" indent="0" marL="0">
              <a:buNone/>
            </a:pPr>
            <a:r>
              <a:rPr lang="en-US" sz="980" b="1" dirty="0">
                <a:solidFill>
                  <a:srgbClr val="B0562F"/>
                </a:solidFill>
                <a:latin typeface="Georgia" pitchFamily="34" charset="0"/>
                <a:ea typeface="Georgia" pitchFamily="34" charset="-122"/>
                <a:cs typeface="Georgia" pitchFamily="34" charset="-120"/>
              </a:rPr>
              <a:t>38.04</a:t>
            </a:r>
            <a:endParaRPr lang="en-US" sz="980" dirty="0"/>
          </a:p>
        </p:txBody>
      </p:sp>
      <p:sp>
        <p:nvSpPr>
          <p:cNvPr id="12" name="Text 9"/>
          <p:cNvSpPr/>
          <p:nvPr/>
        </p:nvSpPr>
        <p:spPr>
          <a:xfrm>
            <a:off x="658368" y="5925312"/>
            <a:ext cx="10874959" cy="384048"/>
          </a:xfrm>
          <a:prstGeom prst="rect">
            <a:avLst/>
          </a:prstGeom>
          <a:noFill/>
          <a:ln/>
        </p:spPr>
        <p:txBody>
          <a:bodyPr wrap="square" rtlCol="0" anchor="ctr"/>
          <a:lstStyle/>
          <a:p>
            <a:pPr algn="ctr" indent="0" marL="0">
              <a:buNone/>
            </a:pPr>
            <a:r>
              <a:rPr lang="en-US" sz="1840" b="1" dirty="0">
                <a:solidFill>
                  <a:srgbClr val="1B1B18"/>
                </a:solidFill>
                <a:latin typeface="Songti TC" pitchFamily="34" charset="0"/>
                <a:ea typeface="Songti TC" pitchFamily="34" charset="-122"/>
                <a:cs typeface="Songti TC" pitchFamily="34" charset="-120"/>
              </a:rPr>
              <a:t>生育率下降 ＋ 平均餘命延長　</a:t>
            </a:r>
            <a:pPr algn="ctr" indent="0" marL="0">
              <a:buNone/>
            </a:pPr>
            <a:r>
              <a:rPr lang="en-US" sz="1840" b="1" dirty="0">
                <a:solidFill>
                  <a:srgbClr val="B0562F"/>
                </a:solidFill>
                <a:latin typeface="Songti TC" pitchFamily="34" charset="0"/>
                <a:ea typeface="Songti TC" pitchFamily="34" charset="-122"/>
                <a:cs typeface="Songti TC" pitchFamily="34" charset="-120"/>
              </a:rPr>
              <a:t>→　高齡化</a:t>
            </a:r>
            <a:endParaRPr lang="en-US" sz="18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人口發展史</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21 世紀以來台灣人口發展重要時刻</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10 / 30</a:t>
            </a:r>
            <a:endParaRPr lang="en-US" sz="1150" dirty="0"/>
          </a:p>
        </p:txBody>
      </p:sp>
      <p:sp>
        <p:nvSpPr>
          <p:cNvPr id="7" name="Text 5"/>
          <p:cNvSpPr/>
          <p:nvPr/>
        </p:nvSpPr>
        <p:spPr>
          <a:xfrm>
            <a:off x="658368" y="1947672"/>
            <a:ext cx="1234440" cy="72237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2000</a:t>
            </a:r>
            <a:endParaRPr lang="en-US" sz="1840" dirty="0"/>
          </a:p>
        </p:txBody>
      </p:sp>
      <p:sp>
        <p:nvSpPr>
          <p:cNvPr id="8" name="Shape 6"/>
          <p:cNvSpPr/>
          <p:nvPr/>
        </p:nvSpPr>
        <p:spPr>
          <a:xfrm>
            <a:off x="1956816" y="2002536"/>
            <a:ext cx="0" cy="612648"/>
          </a:xfrm>
          <a:prstGeom prst="line">
            <a:avLst/>
          </a:prstGeom>
          <a:noFill/>
          <a:ln w="19050">
            <a:solidFill>
              <a:srgbClr val="CBD8CF"/>
            </a:solidFill>
            <a:prstDash val="solid"/>
          </a:ln>
        </p:spPr>
      </p:sp>
      <p:sp>
        <p:nvSpPr>
          <p:cNvPr id="9" name="Text 7"/>
          <p:cNvSpPr/>
          <p:nvPr/>
        </p:nvSpPr>
        <p:spPr>
          <a:xfrm>
            <a:off x="2121408" y="1947672"/>
            <a:ext cx="3654400" cy="72237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生育率 1.68 人（工業國家前半段），此後連十年下降。</a:t>
            </a:r>
            <a:endParaRPr lang="en-US" sz="1440" dirty="0"/>
          </a:p>
        </p:txBody>
      </p:sp>
      <p:sp>
        <p:nvSpPr>
          <p:cNvPr id="10" name="Text 8"/>
          <p:cNvSpPr/>
          <p:nvPr/>
        </p:nvSpPr>
        <p:spPr>
          <a:xfrm>
            <a:off x="658368" y="2834640"/>
            <a:ext cx="1234440" cy="72237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2003</a:t>
            </a:r>
            <a:endParaRPr lang="en-US" sz="1840" dirty="0"/>
          </a:p>
        </p:txBody>
      </p:sp>
      <p:sp>
        <p:nvSpPr>
          <p:cNvPr id="11" name="Shape 9"/>
          <p:cNvSpPr/>
          <p:nvPr/>
        </p:nvSpPr>
        <p:spPr>
          <a:xfrm>
            <a:off x="1956816" y="2889504"/>
            <a:ext cx="0" cy="612648"/>
          </a:xfrm>
          <a:prstGeom prst="line">
            <a:avLst/>
          </a:prstGeom>
          <a:noFill/>
          <a:ln w="19050">
            <a:solidFill>
              <a:srgbClr val="CBD8CF"/>
            </a:solidFill>
            <a:prstDash val="solid"/>
          </a:ln>
        </p:spPr>
      </p:sp>
      <p:sp>
        <p:nvSpPr>
          <p:cNvPr id="12" name="Text 10"/>
          <p:cNvSpPr/>
          <p:nvPr/>
        </p:nvSpPr>
        <p:spPr>
          <a:xfrm>
            <a:off x="2121408" y="2834640"/>
            <a:ext cx="3654400" cy="72237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進入「超低生育率」（低於 1.3 人）。</a:t>
            </a:r>
            <a:endParaRPr lang="en-US" sz="1440" dirty="0"/>
          </a:p>
        </p:txBody>
      </p:sp>
      <p:sp>
        <p:nvSpPr>
          <p:cNvPr id="13" name="Text 11"/>
          <p:cNvSpPr/>
          <p:nvPr/>
        </p:nvSpPr>
        <p:spPr>
          <a:xfrm>
            <a:off x="658368" y="3721608"/>
            <a:ext cx="1234440" cy="72237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2010</a:t>
            </a:r>
            <a:endParaRPr lang="en-US" sz="1840" dirty="0"/>
          </a:p>
        </p:txBody>
      </p:sp>
      <p:sp>
        <p:nvSpPr>
          <p:cNvPr id="14" name="Shape 12"/>
          <p:cNvSpPr/>
          <p:nvPr/>
        </p:nvSpPr>
        <p:spPr>
          <a:xfrm>
            <a:off x="1956816" y="3776472"/>
            <a:ext cx="0" cy="612648"/>
          </a:xfrm>
          <a:prstGeom prst="line">
            <a:avLst/>
          </a:prstGeom>
          <a:noFill/>
          <a:ln w="19050">
            <a:solidFill>
              <a:srgbClr val="CBD8CF"/>
            </a:solidFill>
            <a:prstDash val="solid"/>
          </a:ln>
        </p:spPr>
      </p:sp>
      <p:sp>
        <p:nvSpPr>
          <p:cNvPr id="15" name="Text 13"/>
          <p:cNvSpPr/>
          <p:nvPr/>
        </p:nvSpPr>
        <p:spPr>
          <a:xfrm>
            <a:off x="2121408" y="3721608"/>
            <a:ext cx="3654400" cy="72237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受虎年與金融海嘯衝擊，生育量 16.7 萬、生育率 0.9，均為歷史新低，當年啟動鼓勵生育政策。</a:t>
            </a:r>
            <a:endParaRPr lang="en-US" sz="1440" dirty="0"/>
          </a:p>
        </p:txBody>
      </p:sp>
      <p:sp>
        <p:nvSpPr>
          <p:cNvPr id="16" name="Text 14"/>
          <p:cNvSpPr/>
          <p:nvPr/>
        </p:nvSpPr>
        <p:spPr>
          <a:xfrm>
            <a:off x="658368" y="4608576"/>
            <a:ext cx="1234440" cy="72237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2011–15</a:t>
            </a:r>
            <a:endParaRPr lang="en-US" sz="1840" dirty="0"/>
          </a:p>
        </p:txBody>
      </p:sp>
      <p:sp>
        <p:nvSpPr>
          <p:cNvPr id="17" name="Shape 15"/>
          <p:cNvSpPr/>
          <p:nvPr/>
        </p:nvSpPr>
        <p:spPr>
          <a:xfrm>
            <a:off x="1956816" y="4663440"/>
            <a:ext cx="0" cy="612648"/>
          </a:xfrm>
          <a:prstGeom prst="line">
            <a:avLst/>
          </a:prstGeom>
          <a:noFill/>
          <a:ln w="19050">
            <a:solidFill>
              <a:srgbClr val="CBD8CF"/>
            </a:solidFill>
            <a:prstDash val="solid"/>
          </a:ln>
        </p:spPr>
      </p:sp>
      <p:sp>
        <p:nvSpPr>
          <p:cNvPr id="18" name="Text 16"/>
          <p:cNvSpPr/>
          <p:nvPr/>
        </p:nvSpPr>
        <p:spPr>
          <a:xfrm>
            <a:off x="2121408" y="4608576"/>
            <a:ext cx="3654400" cy="72237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生育回升，平均每年 21 萬嬰兒。</a:t>
            </a:r>
            <a:endParaRPr lang="en-US" sz="1440" dirty="0"/>
          </a:p>
        </p:txBody>
      </p:sp>
      <p:sp>
        <p:nvSpPr>
          <p:cNvPr id="19" name="Text 17"/>
          <p:cNvSpPr/>
          <p:nvPr/>
        </p:nvSpPr>
        <p:spPr>
          <a:xfrm>
            <a:off x="658368" y="5495544"/>
            <a:ext cx="1234440" cy="72237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2017</a:t>
            </a:r>
            <a:endParaRPr lang="en-US" sz="1840" dirty="0"/>
          </a:p>
        </p:txBody>
      </p:sp>
      <p:sp>
        <p:nvSpPr>
          <p:cNvPr id="20" name="Shape 18"/>
          <p:cNvSpPr/>
          <p:nvPr/>
        </p:nvSpPr>
        <p:spPr>
          <a:xfrm>
            <a:off x="1956816" y="5550408"/>
            <a:ext cx="0" cy="612648"/>
          </a:xfrm>
          <a:prstGeom prst="line">
            <a:avLst/>
          </a:prstGeom>
          <a:noFill/>
          <a:ln w="19050">
            <a:solidFill>
              <a:srgbClr val="CBD8CF"/>
            </a:solidFill>
            <a:prstDash val="solid"/>
          </a:ln>
        </p:spPr>
      </p:sp>
      <p:sp>
        <p:nvSpPr>
          <p:cNvPr id="21" name="Text 19"/>
          <p:cNvSpPr/>
          <p:nvPr/>
        </p:nvSpPr>
        <p:spPr>
          <a:xfrm>
            <a:off x="2121408" y="5495544"/>
            <a:ext cx="3654400" cy="72237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出生數 19.4 萬。</a:t>
            </a:r>
            <a:endParaRPr lang="en-US" sz="1440" dirty="0"/>
          </a:p>
        </p:txBody>
      </p:sp>
      <p:sp>
        <p:nvSpPr>
          <p:cNvPr id="22" name="Text 20"/>
          <p:cNvSpPr/>
          <p:nvPr/>
        </p:nvSpPr>
        <p:spPr>
          <a:xfrm>
            <a:off x="6415888" y="1947672"/>
            <a:ext cx="1234440" cy="944118"/>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2020</a:t>
            </a:r>
            <a:endParaRPr lang="en-US" sz="1840" dirty="0"/>
          </a:p>
        </p:txBody>
      </p:sp>
      <p:sp>
        <p:nvSpPr>
          <p:cNvPr id="23" name="Shape 21"/>
          <p:cNvSpPr/>
          <p:nvPr/>
        </p:nvSpPr>
        <p:spPr>
          <a:xfrm>
            <a:off x="7714336" y="2002536"/>
            <a:ext cx="0" cy="834390"/>
          </a:xfrm>
          <a:prstGeom prst="line">
            <a:avLst/>
          </a:prstGeom>
          <a:noFill/>
          <a:ln w="19050">
            <a:solidFill>
              <a:srgbClr val="CBD8CF"/>
            </a:solidFill>
            <a:prstDash val="solid"/>
          </a:ln>
        </p:spPr>
      </p:sp>
      <p:sp>
        <p:nvSpPr>
          <p:cNvPr id="24" name="Text 22"/>
          <p:cNvSpPr/>
          <p:nvPr/>
        </p:nvSpPr>
        <p:spPr>
          <a:xfrm>
            <a:off x="7878928" y="1947672"/>
            <a:ext cx="3654400" cy="944118"/>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出生數 16.5 萬創歷史新低，人口首度負成長。</a:t>
            </a:r>
            <a:endParaRPr lang="en-US" sz="1440" dirty="0"/>
          </a:p>
        </p:txBody>
      </p:sp>
      <p:sp>
        <p:nvSpPr>
          <p:cNvPr id="25" name="Text 23"/>
          <p:cNvSpPr/>
          <p:nvPr/>
        </p:nvSpPr>
        <p:spPr>
          <a:xfrm>
            <a:off x="6415888" y="3056382"/>
            <a:ext cx="1234440" cy="944118"/>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2022</a:t>
            </a:r>
            <a:endParaRPr lang="en-US" sz="1840" dirty="0"/>
          </a:p>
        </p:txBody>
      </p:sp>
      <p:sp>
        <p:nvSpPr>
          <p:cNvPr id="26" name="Shape 24"/>
          <p:cNvSpPr/>
          <p:nvPr/>
        </p:nvSpPr>
        <p:spPr>
          <a:xfrm>
            <a:off x="7714336" y="3111246"/>
            <a:ext cx="0" cy="834390"/>
          </a:xfrm>
          <a:prstGeom prst="line">
            <a:avLst/>
          </a:prstGeom>
          <a:noFill/>
          <a:ln w="19050">
            <a:solidFill>
              <a:srgbClr val="CBD8CF"/>
            </a:solidFill>
            <a:prstDash val="solid"/>
          </a:ln>
        </p:spPr>
      </p:sp>
      <p:sp>
        <p:nvSpPr>
          <p:cNvPr id="27" name="Text 25"/>
          <p:cNvSpPr/>
          <p:nvPr/>
        </p:nvSpPr>
        <p:spPr>
          <a:xfrm>
            <a:off x="7878928" y="3056382"/>
            <a:ext cx="3654400" cy="944118"/>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出生數 13.9 萬續創新低，生育率 0.87 人。</a:t>
            </a:r>
            <a:endParaRPr lang="en-US" sz="1440" dirty="0"/>
          </a:p>
        </p:txBody>
      </p:sp>
      <p:sp>
        <p:nvSpPr>
          <p:cNvPr id="28" name="Text 26"/>
          <p:cNvSpPr/>
          <p:nvPr/>
        </p:nvSpPr>
        <p:spPr>
          <a:xfrm>
            <a:off x="6415888" y="4165092"/>
            <a:ext cx="1234440" cy="944118"/>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2024</a:t>
            </a:r>
            <a:endParaRPr lang="en-US" sz="1840" dirty="0"/>
          </a:p>
        </p:txBody>
      </p:sp>
      <p:sp>
        <p:nvSpPr>
          <p:cNvPr id="29" name="Shape 27"/>
          <p:cNvSpPr/>
          <p:nvPr/>
        </p:nvSpPr>
        <p:spPr>
          <a:xfrm>
            <a:off x="7714336" y="4219956"/>
            <a:ext cx="0" cy="834390"/>
          </a:xfrm>
          <a:prstGeom prst="line">
            <a:avLst/>
          </a:prstGeom>
          <a:noFill/>
          <a:ln w="19050">
            <a:solidFill>
              <a:srgbClr val="CBD8CF"/>
            </a:solidFill>
            <a:prstDash val="solid"/>
          </a:ln>
        </p:spPr>
      </p:sp>
      <p:sp>
        <p:nvSpPr>
          <p:cNvPr id="30" name="Text 28"/>
          <p:cNvSpPr/>
          <p:nvPr/>
        </p:nvSpPr>
        <p:spPr>
          <a:xfrm>
            <a:off x="7878928" y="4165092"/>
            <a:ext cx="3654400" cy="944118"/>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（龍年）出生 13.4 萬人，低於 2022（虎年）。</a:t>
            </a:r>
            <a:endParaRPr lang="en-US" sz="1440" dirty="0"/>
          </a:p>
        </p:txBody>
      </p:sp>
      <p:sp>
        <p:nvSpPr>
          <p:cNvPr id="31" name="Text 29"/>
          <p:cNvSpPr/>
          <p:nvPr/>
        </p:nvSpPr>
        <p:spPr>
          <a:xfrm>
            <a:off x="6415888" y="5273802"/>
            <a:ext cx="1234440" cy="944118"/>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2025</a:t>
            </a:r>
            <a:endParaRPr lang="en-US" sz="1840" dirty="0"/>
          </a:p>
        </p:txBody>
      </p:sp>
      <p:sp>
        <p:nvSpPr>
          <p:cNvPr id="32" name="Shape 30"/>
          <p:cNvSpPr/>
          <p:nvPr/>
        </p:nvSpPr>
        <p:spPr>
          <a:xfrm>
            <a:off x="7714336" y="5328666"/>
            <a:ext cx="0" cy="834390"/>
          </a:xfrm>
          <a:prstGeom prst="line">
            <a:avLst/>
          </a:prstGeom>
          <a:noFill/>
          <a:ln w="19050">
            <a:solidFill>
              <a:srgbClr val="CBD8CF"/>
            </a:solidFill>
            <a:prstDash val="solid"/>
          </a:ln>
        </p:spPr>
      </p:sp>
      <p:sp>
        <p:nvSpPr>
          <p:cNvPr id="33" name="Text 31"/>
          <p:cNvSpPr/>
          <p:nvPr/>
        </p:nvSpPr>
        <p:spPr>
          <a:xfrm>
            <a:off x="7878928" y="5273802"/>
            <a:ext cx="3654400" cy="944118"/>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出生 10.8 萬人，續創新低，年跌幅達 20%。</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國發會 2024 · 中推估</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2025–2059 人口重要年表</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11 / 30</a:t>
            </a:r>
            <a:endParaRPr lang="en-US" sz="1150" dirty="0"/>
          </a:p>
        </p:txBody>
      </p:sp>
      <p:sp>
        <p:nvSpPr>
          <p:cNvPr id="7" name="Text 5"/>
          <p:cNvSpPr/>
          <p:nvPr/>
        </p:nvSpPr>
        <p:spPr>
          <a:xfrm>
            <a:off x="658368" y="1947672"/>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2025</a:t>
            </a:r>
            <a:endParaRPr lang="en-US" sz="1840" dirty="0"/>
          </a:p>
        </p:txBody>
      </p:sp>
      <p:sp>
        <p:nvSpPr>
          <p:cNvPr id="8" name="Shape 6"/>
          <p:cNvSpPr/>
          <p:nvPr/>
        </p:nvSpPr>
        <p:spPr>
          <a:xfrm>
            <a:off x="1956816" y="2002536"/>
            <a:ext cx="0" cy="627278"/>
          </a:xfrm>
          <a:prstGeom prst="line">
            <a:avLst/>
          </a:prstGeom>
          <a:noFill/>
          <a:ln w="19050">
            <a:solidFill>
              <a:srgbClr val="CBD8CF"/>
            </a:solidFill>
            <a:prstDash val="solid"/>
          </a:ln>
        </p:spPr>
      </p:sp>
      <p:sp>
        <p:nvSpPr>
          <p:cNvPr id="9" name="Text 7"/>
          <p:cNvSpPr/>
          <p:nvPr/>
        </p:nvSpPr>
        <p:spPr>
          <a:xfrm>
            <a:off x="2121408" y="1947672"/>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65+ 歲老年人口占比達 20%，邁入超高齡社會。</a:t>
            </a:r>
            <a:endParaRPr lang="en-US" sz="1440" dirty="0"/>
          </a:p>
        </p:txBody>
      </p:sp>
      <p:sp>
        <p:nvSpPr>
          <p:cNvPr id="10" name="Text 8"/>
          <p:cNvSpPr/>
          <p:nvPr/>
        </p:nvSpPr>
        <p:spPr>
          <a:xfrm>
            <a:off x="658368" y="2830982"/>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2027</a:t>
            </a:r>
            <a:endParaRPr lang="en-US" sz="1840" dirty="0"/>
          </a:p>
        </p:txBody>
      </p:sp>
      <p:sp>
        <p:nvSpPr>
          <p:cNvPr id="11" name="Shape 9"/>
          <p:cNvSpPr/>
          <p:nvPr/>
        </p:nvSpPr>
        <p:spPr>
          <a:xfrm>
            <a:off x="1956816" y="2885846"/>
            <a:ext cx="0" cy="627278"/>
          </a:xfrm>
          <a:prstGeom prst="line">
            <a:avLst/>
          </a:prstGeom>
          <a:noFill/>
          <a:ln w="19050">
            <a:solidFill>
              <a:srgbClr val="CBD8CF"/>
            </a:solidFill>
            <a:prstDash val="solid"/>
          </a:ln>
        </p:spPr>
      </p:sp>
      <p:sp>
        <p:nvSpPr>
          <p:cNvPr id="12" name="Text 10"/>
          <p:cNvSpPr/>
          <p:nvPr/>
        </p:nvSpPr>
        <p:spPr>
          <a:xfrm>
            <a:off x="2121408" y="2830982"/>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18 歲大學入學年齡人口首次低於 20 萬；85+ 歲超高齡人口超過 50 萬人。</a:t>
            </a:r>
            <a:endParaRPr lang="en-US" sz="1440" dirty="0"/>
          </a:p>
        </p:txBody>
      </p:sp>
      <p:sp>
        <p:nvSpPr>
          <p:cNvPr id="13" name="Text 11"/>
          <p:cNvSpPr/>
          <p:nvPr/>
        </p:nvSpPr>
        <p:spPr>
          <a:xfrm>
            <a:off x="658368" y="3714293"/>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2028</a:t>
            </a:r>
            <a:endParaRPr lang="en-US" sz="1840" dirty="0"/>
          </a:p>
        </p:txBody>
      </p:sp>
      <p:sp>
        <p:nvSpPr>
          <p:cNvPr id="14" name="Shape 12"/>
          <p:cNvSpPr/>
          <p:nvPr/>
        </p:nvSpPr>
        <p:spPr>
          <a:xfrm>
            <a:off x="1956816" y="3769157"/>
            <a:ext cx="0" cy="627278"/>
          </a:xfrm>
          <a:prstGeom prst="line">
            <a:avLst/>
          </a:prstGeom>
          <a:noFill/>
          <a:ln w="19050">
            <a:solidFill>
              <a:srgbClr val="CBD8CF"/>
            </a:solidFill>
            <a:prstDash val="solid"/>
          </a:ln>
        </p:spPr>
      </p:sp>
      <p:sp>
        <p:nvSpPr>
          <p:cNvPr id="15" name="Text 13"/>
          <p:cNvSpPr/>
          <p:nvPr/>
        </p:nvSpPr>
        <p:spPr>
          <a:xfrm>
            <a:off x="2121408" y="3714293"/>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15–64 歲工作年齡人口占比低於 2/3。</a:t>
            </a:r>
            <a:endParaRPr lang="en-US" sz="1440" dirty="0"/>
          </a:p>
        </p:txBody>
      </p:sp>
      <p:sp>
        <p:nvSpPr>
          <p:cNvPr id="16" name="Text 14"/>
          <p:cNvSpPr/>
          <p:nvPr/>
        </p:nvSpPr>
        <p:spPr>
          <a:xfrm>
            <a:off x="658368" y="4597603"/>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2030</a:t>
            </a:r>
            <a:endParaRPr lang="en-US" sz="1840" dirty="0"/>
          </a:p>
        </p:txBody>
      </p:sp>
      <p:sp>
        <p:nvSpPr>
          <p:cNvPr id="17" name="Shape 15"/>
          <p:cNvSpPr/>
          <p:nvPr/>
        </p:nvSpPr>
        <p:spPr>
          <a:xfrm>
            <a:off x="1956816" y="4652467"/>
            <a:ext cx="0" cy="627278"/>
          </a:xfrm>
          <a:prstGeom prst="line">
            <a:avLst/>
          </a:prstGeom>
          <a:noFill/>
          <a:ln w="19050">
            <a:solidFill>
              <a:srgbClr val="CBD8CF"/>
            </a:solidFill>
            <a:prstDash val="solid"/>
          </a:ln>
        </p:spPr>
      </p:sp>
      <p:sp>
        <p:nvSpPr>
          <p:cNvPr id="18" name="Text 16"/>
          <p:cNvSpPr/>
          <p:nvPr/>
        </p:nvSpPr>
        <p:spPr>
          <a:xfrm>
            <a:off x="2121408" y="4597603"/>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總人口低於 2,300 萬人。</a:t>
            </a:r>
            <a:endParaRPr lang="en-US" sz="1440" dirty="0"/>
          </a:p>
        </p:txBody>
      </p:sp>
      <p:sp>
        <p:nvSpPr>
          <p:cNvPr id="19" name="Text 17"/>
          <p:cNvSpPr/>
          <p:nvPr/>
        </p:nvSpPr>
        <p:spPr>
          <a:xfrm>
            <a:off x="658368" y="5480914"/>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2039</a:t>
            </a:r>
            <a:endParaRPr lang="en-US" sz="1840" dirty="0"/>
          </a:p>
        </p:txBody>
      </p:sp>
      <p:sp>
        <p:nvSpPr>
          <p:cNvPr id="20" name="Shape 18"/>
          <p:cNvSpPr/>
          <p:nvPr/>
        </p:nvSpPr>
        <p:spPr>
          <a:xfrm>
            <a:off x="1956816" y="5535778"/>
            <a:ext cx="0" cy="627278"/>
          </a:xfrm>
          <a:prstGeom prst="line">
            <a:avLst/>
          </a:prstGeom>
          <a:noFill/>
          <a:ln w="19050">
            <a:solidFill>
              <a:srgbClr val="CBD8CF"/>
            </a:solidFill>
            <a:prstDash val="solid"/>
          </a:ln>
        </p:spPr>
      </p:sp>
      <p:sp>
        <p:nvSpPr>
          <p:cNvPr id="21" name="Text 19"/>
          <p:cNvSpPr/>
          <p:nvPr/>
        </p:nvSpPr>
        <p:spPr>
          <a:xfrm>
            <a:off x="2121408" y="5480914"/>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65+ 歲老年人口占比達 30%；85+ 歲超高齡人口超過 100 萬人。</a:t>
            </a:r>
            <a:endParaRPr lang="en-US" sz="1440" dirty="0"/>
          </a:p>
        </p:txBody>
      </p:sp>
      <p:sp>
        <p:nvSpPr>
          <p:cNvPr id="22" name="Text 20"/>
          <p:cNvSpPr/>
          <p:nvPr/>
        </p:nvSpPr>
        <p:spPr>
          <a:xfrm>
            <a:off x="6415888" y="1947672"/>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2040</a:t>
            </a:r>
            <a:endParaRPr lang="en-US" sz="1840" dirty="0"/>
          </a:p>
        </p:txBody>
      </p:sp>
      <p:sp>
        <p:nvSpPr>
          <p:cNvPr id="23" name="Shape 21"/>
          <p:cNvSpPr/>
          <p:nvPr/>
        </p:nvSpPr>
        <p:spPr>
          <a:xfrm>
            <a:off x="7714336" y="2002536"/>
            <a:ext cx="0" cy="627278"/>
          </a:xfrm>
          <a:prstGeom prst="line">
            <a:avLst/>
          </a:prstGeom>
          <a:noFill/>
          <a:ln w="19050">
            <a:solidFill>
              <a:srgbClr val="CBD8CF"/>
            </a:solidFill>
            <a:prstDash val="solid"/>
          </a:ln>
        </p:spPr>
      </p:sp>
      <p:sp>
        <p:nvSpPr>
          <p:cNvPr id="24" name="Text 22"/>
          <p:cNvSpPr/>
          <p:nvPr/>
        </p:nvSpPr>
        <p:spPr>
          <a:xfrm>
            <a:off x="7878928" y="1947672"/>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出生數低於 10 萬人。</a:t>
            </a:r>
            <a:endParaRPr lang="en-US" sz="1440" dirty="0"/>
          </a:p>
        </p:txBody>
      </p:sp>
      <p:sp>
        <p:nvSpPr>
          <p:cNvPr id="25" name="Text 23"/>
          <p:cNvSpPr/>
          <p:nvPr/>
        </p:nvSpPr>
        <p:spPr>
          <a:xfrm>
            <a:off x="6415888" y="2830982"/>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2049</a:t>
            </a:r>
            <a:endParaRPr lang="en-US" sz="1840" dirty="0"/>
          </a:p>
        </p:txBody>
      </p:sp>
      <p:sp>
        <p:nvSpPr>
          <p:cNvPr id="26" name="Shape 24"/>
          <p:cNvSpPr/>
          <p:nvPr/>
        </p:nvSpPr>
        <p:spPr>
          <a:xfrm>
            <a:off x="7714336" y="2885846"/>
            <a:ext cx="0" cy="627278"/>
          </a:xfrm>
          <a:prstGeom prst="line">
            <a:avLst/>
          </a:prstGeom>
          <a:noFill/>
          <a:ln w="19050">
            <a:solidFill>
              <a:srgbClr val="CBD8CF"/>
            </a:solidFill>
            <a:prstDash val="solid"/>
          </a:ln>
        </p:spPr>
      </p:sp>
      <p:sp>
        <p:nvSpPr>
          <p:cNvPr id="27" name="Text 25"/>
          <p:cNvSpPr/>
          <p:nvPr/>
        </p:nvSpPr>
        <p:spPr>
          <a:xfrm>
            <a:off x="7878928" y="2830982"/>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總人口低於 2,000 萬人。</a:t>
            </a:r>
            <a:endParaRPr lang="en-US" sz="1440" dirty="0"/>
          </a:p>
        </p:txBody>
      </p:sp>
      <p:sp>
        <p:nvSpPr>
          <p:cNvPr id="28" name="Text 26"/>
          <p:cNvSpPr/>
          <p:nvPr/>
        </p:nvSpPr>
        <p:spPr>
          <a:xfrm>
            <a:off x="6415888" y="3714293"/>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2050</a:t>
            </a:r>
            <a:endParaRPr lang="en-US" sz="1840" dirty="0"/>
          </a:p>
        </p:txBody>
      </p:sp>
      <p:sp>
        <p:nvSpPr>
          <p:cNvPr id="29" name="Shape 27"/>
          <p:cNvSpPr/>
          <p:nvPr/>
        </p:nvSpPr>
        <p:spPr>
          <a:xfrm>
            <a:off x="7714336" y="3769157"/>
            <a:ext cx="0" cy="627278"/>
          </a:xfrm>
          <a:prstGeom prst="line">
            <a:avLst/>
          </a:prstGeom>
          <a:noFill/>
          <a:ln w="19050">
            <a:solidFill>
              <a:srgbClr val="CBD8CF"/>
            </a:solidFill>
            <a:prstDash val="solid"/>
          </a:ln>
        </p:spPr>
      </p:sp>
      <p:sp>
        <p:nvSpPr>
          <p:cNvPr id="30" name="Text 28"/>
          <p:cNvSpPr/>
          <p:nvPr/>
        </p:nvSpPr>
        <p:spPr>
          <a:xfrm>
            <a:off x="7878928" y="3714293"/>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65+ 歲老年人口達高峰 757 萬人（占比 38.4%）。</a:t>
            </a:r>
            <a:endParaRPr lang="en-US" sz="1440" dirty="0"/>
          </a:p>
        </p:txBody>
      </p:sp>
      <p:sp>
        <p:nvSpPr>
          <p:cNvPr id="31" name="Text 29"/>
          <p:cNvSpPr/>
          <p:nvPr/>
        </p:nvSpPr>
        <p:spPr>
          <a:xfrm>
            <a:off x="6415888" y="4597603"/>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2054</a:t>
            </a:r>
            <a:endParaRPr lang="en-US" sz="1840" dirty="0"/>
          </a:p>
        </p:txBody>
      </p:sp>
      <p:sp>
        <p:nvSpPr>
          <p:cNvPr id="32" name="Shape 30"/>
          <p:cNvSpPr/>
          <p:nvPr/>
        </p:nvSpPr>
        <p:spPr>
          <a:xfrm>
            <a:off x="7714336" y="4652467"/>
            <a:ext cx="0" cy="627278"/>
          </a:xfrm>
          <a:prstGeom prst="line">
            <a:avLst/>
          </a:prstGeom>
          <a:noFill/>
          <a:ln w="19050">
            <a:solidFill>
              <a:srgbClr val="CBD8CF"/>
            </a:solidFill>
            <a:prstDash val="solid"/>
          </a:ln>
        </p:spPr>
      </p:sp>
      <p:sp>
        <p:nvSpPr>
          <p:cNvPr id="33" name="Text 31"/>
          <p:cNvSpPr/>
          <p:nvPr/>
        </p:nvSpPr>
        <p:spPr>
          <a:xfrm>
            <a:off x="7878928" y="4597603"/>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15–64 歲工作年齡人口低於 1,000 萬人。</a:t>
            </a:r>
            <a:endParaRPr lang="en-US" sz="1440" dirty="0"/>
          </a:p>
        </p:txBody>
      </p:sp>
      <p:sp>
        <p:nvSpPr>
          <p:cNvPr id="34" name="Text 32"/>
          <p:cNvSpPr/>
          <p:nvPr/>
        </p:nvSpPr>
        <p:spPr>
          <a:xfrm>
            <a:off x="6415888" y="5480914"/>
            <a:ext cx="1234440" cy="737006"/>
          </a:xfrm>
          <a:prstGeom prst="rect">
            <a:avLst/>
          </a:prstGeom>
          <a:noFill/>
          <a:ln/>
        </p:spPr>
        <p:txBody>
          <a:bodyPr wrap="square" rtlCol="0" anchor="t"/>
          <a:lstStyle/>
          <a:p>
            <a:pPr algn="l" indent="0" marL="0">
              <a:buNone/>
            </a:pPr>
            <a:r>
              <a:rPr lang="en-US" sz="1840" b="1" dirty="0">
                <a:solidFill>
                  <a:srgbClr val="0E4536"/>
                </a:solidFill>
                <a:latin typeface="Georgia" pitchFamily="34" charset="0"/>
                <a:ea typeface="Georgia" pitchFamily="34" charset="-122"/>
                <a:cs typeface="Georgia" pitchFamily="34" charset="-120"/>
              </a:rPr>
              <a:t>2059</a:t>
            </a:r>
            <a:endParaRPr lang="en-US" sz="1840" dirty="0"/>
          </a:p>
        </p:txBody>
      </p:sp>
      <p:sp>
        <p:nvSpPr>
          <p:cNvPr id="35" name="Shape 33"/>
          <p:cNvSpPr/>
          <p:nvPr/>
        </p:nvSpPr>
        <p:spPr>
          <a:xfrm>
            <a:off x="7714336" y="5535778"/>
            <a:ext cx="0" cy="627278"/>
          </a:xfrm>
          <a:prstGeom prst="line">
            <a:avLst/>
          </a:prstGeom>
          <a:noFill/>
          <a:ln w="19050">
            <a:solidFill>
              <a:srgbClr val="CBD8CF"/>
            </a:solidFill>
            <a:prstDash val="solid"/>
          </a:ln>
        </p:spPr>
      </p:sp>
      <p:sp>
        <p:nvSpPr>
          <p:cNvPr id="36" name="Text 34"/>
          <p:cNvSpPr/>
          <p:nvPr/>
        </p:nvSpPr>
        <p:spPr>
          <a:xfrm>
            <a:off x="7878928" y="5480914"/>
            <a:ext cx="3654400" cy="737006"/>
          </a:xfrm>
          <a:prstGeom prst="rect">
            <a:avLst/>
          </a:prstGeom>
          <a:noFill/>
          <a:ln/>
        </p:spPr>
        <p:txBody>
          <a:bodyPr wrap="square" rtlCol="0" anchor="t"/>
          <a:lstStyle/>
          <a:p>
            <a:pPr algn="l" indent="0" marL="0">
              <a:lnSpc>
                <a:spcPct val="130000"/>
              </a:lnSpc>
              <a:buNone/>
            </a:pPr>
            <a:r>
              <a:rPr lang="en-US" sz="1440" dirty="0">
                <a:solidFill>
                  <a:srgbClr val="38352E"/>
                </a:solidFill>
                <a:latin typeface="Heiti TC" pitchFamily="34" charset="0"/>
                <a:ea typeface="Heiti TC" pitchFamily="34" charset="-122"/>
                <a:cs typeface="Heiti TC" pitchFamily="34" charset="-120"/>
              </a:rPr>
              <a:t>死亡數達高峰 32 萬人（為 2024 年之 1.6 倍）。</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觀察與提問 · 一</a:t>
            </a:r>
            <a:endParaRPr lang="en-US" sz="1380" dirty="0"/>
          </a:p>
        </p:txBody>
      </p:sp>
      <p:sp>
        <p:nvSpPr>
          <p:cNvPr id="3" name="Text 1"/>
          <p:cNvSpPr/>
          <p:nvPr/>
        </p:nvSpPr>
        <p:spPr>
          <a:xfrm>
            <a:off x="658368" y="950976"/>
            <a:ext cx="10874959" cy="822960"/>
          </a:xfrm>
          <a:prstGeom prst="rect">
            <a:avLst/>
          </a:prstGeom>
          <a:noFill/>
          <a:ln/>
        </p:spPr>
        <p:txBody>
          <a:bodyPr wrap="square" rtlCol="0" anchor="t"/>
          <a:lstStyle/>
          <a:p>
            <a:pPr algn="l" indent="0" marL="0">
              <a:lnSpc>
                <a:spcPct val="105000"/>
              </a:lnSpc>
              <a:buNone/>
            </a:pPr>
            <a:r>
              <a:rPr lang="en-US" sz="2990" b="1" dirty="0">
                <a:solidFill>
                  <a:srgbClr val="1B1B18"/>
                </a:solidFill>
                <a:latin typeface="Songti TC" pitchFamily="34" charset="0"/>
                <a:ea typeface="Songti TC" pitchFamily="34" charset="-122"/>
                <a:cs typeface="Songti TC" pitchFamily="34" charset="-120"/>
              </a:rPr>
              <a:t>最大的支出，設定了目標嗎？</a:t>
            </a:r>
            <a:endParaRPr lang="en-US" sz="2990" dirty="0"/>
          </a:p>
        </p:txBody>
      </p:sp>
      <p:sp>
        <p:nvSpPr>
          <p:cNvPr id="4" name="Shape 2"/>
          <p:cNvSpPr/>
          <p:nvPr/>
        </p:nvSpPr>
        <p:spPr>
          <a:xfrm>
            <a:off x="658368" y="182880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12 / 30</a:t>
            </a:r>
            <a:endParaRPr lang="en-US" sz="1150" dirty="0"/>
          </a:p>
        </p:txBody>
      </p:sp>
      <p:sp>
        <p:nvSpPr>
          <p:cNvPr id="7" name="Text 5"/>
          <p:cNvSpPr/>
          <p:nvPr/>
        </p:nvSpPr>
        <p:spPr>
          <a:xfrm>
            <a:off x="658368" y="2130552"/>
            <a:ext cx="10874959" cy="4087368"/>
          </a:xfrm>
          <a:prstGeom prst="rect">
            <a:avLst/>
          </a:prstGeom>
          <a:noFill/>
          <a:ln/>
        </p:spPr>
        <p:txBody>
          <a:bodyPr wrap="square" rtlCol="0" anchor="t"/>
          <a:lstStyle/>
          <a:p>
            <a:pPr algn="l" indent="0" marL="0">
              <a:lnSpc>
                <a:spcPct val="150000"/>
              </a:lnSpc>
              <a:spcAft>
                <a:spcPts val="600"/>
              </a:spcAft>
              <a:buNone/>
            </a:pPr>
            <a:r>
              <a:rPr lang="en-US" sz="1900" dirty="0">
                <a:solidFill>
                  <a:srgbClr val="38352E"/>
                </a:solidFill>
                <a:latin typeface="Heiti TC" pitchFamily="34" charset="0"/>
                <a:ea typeface="Heiti TC" pitchFamily="34" charset="-122"/>
                <a:cs typeface="Heiti TC" pitchFamily="34" charset="-120"/>
              </a:rPr>
              <a:t>0 到 18 歲成長津貼乃 18 項中最大的支出，明年起每人每月發放五千元，6 歲前每月可領一萬元。目前 18 歲以下人口約三百萬人、六歲以下約九十餘萬人，</a:t>
            </a:r>
            <a:pPr algn="l" indent="0" marL="0">
              <a:lnSpc>
                <a:spcPct val="150000"/>
              </a:lnSpc>
              <a:spcAft>
                <a:spcPts val="600"/>
              </a:spcAft>
              <a:buNone/>
            </a:pPr>
            <a:r>
              <a:rPr lang="en-US" sz="1900" b="1" dirty="0">
                <a:solidFill>
                  <a:srgbClr val="0E4536"/>
                </a:solidFill>
                <a:latin typeface="Heiti TC" pitchFamily="34" charset="0"/>
                <a:ea typeface="Heiti TC" pitchFamily="34" charset="-122"/>
                <a:cs typeface="Heiti TC" pitchFamily="34" charset="-120"/>
              </a:rPr>
              <a:t>政府每年要發出約兩千四百億元。</a:t>
            </a:r>
            <a:pPr algn="l" indent="0" marL="0">
              <a:lnSpc>
                <a:spcPct val="150000"/>
              </a:lnSpc>
              <a:spcAft>
                <a:spcPts val="600"/>
              </a:spcAft>
              <a:buNone/>
            </a:pPr>
            <a:r>
              <a:rPr lang="en-US" sz="920" dirty="0">
                <a:solidFill>
                  <a:srgbClr val="38352E"/>
                </a:solidFill>
                <a:latin typeface="Heiti TC" pitchFamily="34" charset="0"/>
                <a:ea typeface="Heiti TC" pitchFamily="34" charset="-122"/>
                <a:cs typeface="Heiti TC" pitchFamily="34" charset="-120"/>
              </a:rPr>
              <a:t>
</a:t>
            </a:r>
            <a:pPr algn="l" indent="0" marL="0">
              <a:lnSpc>
                <a:spcPct val="150000"/>
              </a:lnSpc>
              <a:spcAft>
                <a:spcPts val="600"/>
              </a:spcAft>
              <a:buNone/>
            </a:pPr>
            <a:r>
              <a:rPr lang="en-US" sz="1900" dirty="0">
                <a:solidFill>
                  <a:srgbClr val="38352E"/>
                </a:solidFill>
                <a:latin typeface="Heiti TC" pitchFamily="34" charset="0"/>
                <a:ea typeface="Heiti TC" pitchFamily="34" charset="-122"/>
                <a:cs typeface="Heiti TC" pitchFamily="34" charset="-120"/>
              </a:rPr>
              <a:t>對此措施，筆者要問：在政策推出前，行政院是否評估其效益與目標？是生育率在五年內回到 1 以上，還是生育量回到 15 萬嬰兒（五年前的水準）？過去十年為鼓勵生育不斷加碼，但生育率與生育數仍不斷下降。因此，</a:t>
            </a:r>
            <a:pPr algn="l" indent="0" marL="0">
              <a:lnSpc>
                <a:spcPct val="150000"/>
              </a:lnSpc>
              <a:spcAft>
                <a:spcPts val="600"/>
              </a:spcAft>
              <a:buNone/>
            </a:pPr>
            <a:r>
              <a:rPr lang="en-US" sz="1900" b="1" dirty="0">
                <a:solidFill>
                  <a:srgbClr val="B0562F"/>
                </a:solidFill>
                <a:latin typeface="Heiti TC" pitchFamily="34" charset="0"/>
                <a:ea typeface="Heiti TC" pitchFamily="34" charset="-122"/>
                <a:cs typeface="Heiti TC" pitchFamily="34" charset="-120"/>
              </a:rPr>
              <a:t>筆者呼籲這些政策需要完整規劃，並且要設立預期目標。</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觀察與提問 · 二</a:t>
            </a:r>
            <a:endParaRPr lang="en-US" sz="1380" dirty="0"/>
          </a:p>
        </p:txBody>
      </p:sp>
      <p:sp>
        <p:nvSpPr>
          <p:cNvPr id="3" name="Text 1"/>
          <p:cNvSpPr/>
          <p:nvPr/>
        </p:nvSpPr>
        <p:spPr>
          <a:xfrm>
            <a:off x="658368" y="950976"/>
            <a:ext cx="10874959" cy="822960"/>
          </a:xfrm>
          <a:prstGeom prst="rect">
            <a:avLst/>
          </a:prstGeom>
          <a:noFill/>
          <a:ln/>
        </p:spPr>
        <p:txBody>
          <a:bodyPr wrap="square" rtlCol="0" anchor="t"/>
          <a:lstStyle/>
          <a:p>
            <a:pPr algn="l" indent="0" marL="0">
              <a:lnSpc>
                <a:spcPct val="105000"/>
              </a:lnSpc>
              <a:buNone/>
            </a:pPr>
            <a:r>
              <a:rPr lang="en-US" sz="2990" b="1" dirty="0">
                <a:solidFill>
                  <a:srgbClr val="1B1B18"/>
                </a:solidFill>
                <a:latin typeface="Songti TC" pitchFamily="34" charset="0"/>
                <a:ea typeface="Songti TC" pitchFamily="34" charset="-122"/>
                <a:cs typeface="Songti TC" pitchFamily="34" charset="-120"/>
              </a:rPr>
              <a:t>「弱勢帳戶」的舊假設</a:t>
            </a:r>
            <a:endParaRPr lang="en-US" sz="2990" dirty="0"/>
          </a:p>
        </p:txBody>
      </p:sp>
      <p:sp>
        <p:nvSpPr>
          <p:cNvPr id="4" name="Shape 2"/>
          <p:cNvSpPr/>
          <p:nvPr/>
        </p:nvSpPr>
        <p:spPr>
          <a:xfrm>
            <a:off x="658368" y="182880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13 / 30</a:t>
            </a:r>
            <a:endParaRPr lang="en-US" sz="1150" dirty="0"/>
          </a:p>
        </p:txBody>
      </p:sp>
      <p:sp>
        <p:nvSpPr>
          <p:cNvPr id="7" name="Text 5"/>
          <p:cNvSpPr/>
          <p:nvPr/>
        </p:nvSpPr>
        <p:spPr>
          <a:xfrm>
            <a:off x="658368" y="2130552"/>
            <a:ext cx="10874959" cy="4087368"/>
          </a:xfrm>
          <a:prstGeom prst="rect">
            <a:avLst/>
          </a:prstGeom>
          <a:noFill/>
          <a:ln/>
        </p:spPr>
        <p:txBody>
          <a:bodyPr wrap="square" rtlCol="0" anchor="t"/>
          <a:lstStyle/>
          <a:p>
            <a:pPr algn="l" indent="0" marL="0">
              <a:lnSpc>
                <a:spcPct val="150000"/>
              </a:lnSpc>
              <a:spcAft>
                <a:spcPts val="600"/>
              </a:spcAft>
              <a:buNone/>
            </a:pPr>
            <a:r>
              <a:rPr lang="en-US" sz="1900" dirty="0">
                <a:solidFill>
                  <a:srgbClr val="38352E"/>
                </a:solidFill>
                <a:latin typeface="Heiti TC" pitchFamily="34" charset="0"/>
                <a:ea typeface="Heiti TC" pitchFamily="34" charset="-122"/>
                <a:cs typeface="Heiti TC" pitchFamily="34" charset="-120"/>
              </a:rPr>
              <a:t>「弱勢兒少發展帳戶」是比較老舊的方案，乃假設「落入弱勢」（即貧窮，含低收入與中低收入）是因為人們未能延宕滿足、即所謂「愛花錢」，所以「存不了錢」。由於此貧窮歸因已隨社會變遷愈來愈薄弱，與時代脫節。</a:t>
            </a:r>
            <a:pPr algn="l" indent="0" marL="0">
              <a:lnSpc>
                <a:spcPct val="150000"/>
              </a:lnSpc>
              <a:spcAft>
                <a:spcPts val="600"/>
              </a:spcAft>
              <a:buNone/>
            </a:pPr>
            <a:r>
              <a:rPr lang="en-US" sz="920" dirty="0">
                <a:solidFill>
                  <a:srgbClr val="38352E"/>
                </a:solidFill>
                <a:latin typeface="Heiti TC" pitchFamily="34" charset="0"/>
                <a:ea typeface="Heiti TC" pitchFamily="34" charset="-122"/>
                <a:cs typeface="Heiti TC" pitchFamily="34" charset="-120"/>
              </a:rPr>
              <a:t>
</a:t>
            </a:r>
            <a:pPr algn="l" indent="0" marL="0">
              <a:lnSpc>
                <a:spcPct val="150000"/>
              </a:lnSpc>
              <a:spcAft>
                <a:spcPts val="600"/>
              </a:spcAft>
              <a:buNone/>
            </a:pPr>
            <a:r>
              <a:rPr lang="en-US" sz="1900" dirty="0">
                <a:solidFill>
                  <a:srgbClr val="38352E"/>
                </a:solidFill>
                <a:latin typeface="Heiti TC" pitchFamily="34" charset="0"/>
                <a:ea typeface="Heiti TC" pitchFamily="34" charset="-122"/>
                <a:cs typeface="Heiti TC" pitchFamily="34" charset="-120"/>
              </a:rPr>
              <a:t>近三十年來，很多人是因結構性問題（例如新科技取代某些工作而導致失業）而落入弱勢；況且，政府以一比一相對提撥，拿「納稅人的錢」進入「弱勢者的帳戶」，這相當於每月百分之百的利息，</a:t>
            </a:r>
            <a:pPr algn="l" indent="0" marL="0">
              <a:lnSpc>
                <a:spcPct val="150000"/>
              </a:lnSpc>
              <a:spcAft>
                <a:spcPts val="600"/>
              </a:spcAft>
              <a:buNone/>
            </a:pPr>
            <a:r>
              <a:rPr lang="en-US" sz="1900" b="1" dirty="0">
                <a:solidFill>
                  <a:srgbClr val="B0562F"/>
                </a:solidFill>
                <a:latin typeface="Heiti TC" pitchFamily="34" charset="0"/>
                <a:ea typeface="Heiti TC" pitchFamily="34" charset="-122"/>
                <a:cs typeface="Heiti TC" pitchFamily="34" charset="-120"/>
              </a:rPr>
              <a:t>若有不肖者用高利息向他人借款當作「發展帳戶」，政府的美意恐生流弊。</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4536"/>
        </a:solidFill>
      </p:bgPr>
    </p:bg>
    <p:spTree>
      <p:nvGrpSpPr>
        <p:cNvPr id="1" name=""/>
        <p:cNvGrpSpPr/>
        <p:nvPr/>
      </p:nvGrpSpPr>
      <p:grpSpPr>
        <a:xfrm>
          <a:off x="0" y="0"/>
          <a:ext cx="0" cy="0"/>
          <a:chOff x="0" y="0"/>
          <a:chExt cx="0" cy="0"/>
        </a:xfrm>
      </p:grpSpPr>
      <p:sp>
        <p:nvSpPr>
          <p:cNvPr id="2" name="Shape 0"/>
          <p:cNvSpPr/>
          <p:nvPr/>
        </p:nvSpPr>
        <p:spPr>
          <a:xfrm rot="1080000">
            <a:off x="9814255" y="-822960"/>
            <a:ext cx="1645920" cy="1645920"/>
          </a:xfrm>
          <a:prstGeom prst="rect">
            <a:avLst/>
          </a:prstGeom>
          <a:ln w="12700">
            <a:solidFill>
              <a:srgbClr val="23604B"/>
            </a:solidFill>
            <a:prstDash val="solid"/>
          </a:ln>
        </p:spPr>
      </p:sp>
      <p:sp>
        <p:nvSpPr>
          <p:cNvPr id="3" name="Text 1"/>
          <p:cNvSpPr/>
          <p:nvPr/>
        </p:nvSpPr>
        <p:spPr>
          <a:xfrm>
            <a:off x="658368" y="2651760"/>
            <a:ext cx="10874959" cy="274320"/>
          </a:xfrm>
          <a:prstGeom prst="rect">
            <a:avLst/>
          </a:prstGeom>
          <a:noFill/>
          <a:ln/>
        </p:spPr>
        <p:txBody>
          <a:bodyPr wrap="square" rtlCol="0" anchor="ctr"/>
          <a:lstStyle/>
          <a:p>
            <a:pPr indent="0" marL="0">
              <a:buNone/>
            </a:pPr>
            <a:r>
              <a:rPr lang="en-US" sz="1500" b="1" spc="400" kern="0" dirty="0">
                <a:solidFill>
                  <a:srgbClr val="8FB3A2"/>
                </a:solidFill>
                <a:latin typeface="Georgia" pitchFamily="34" charset="0"/>
                <a:ea typeface="Georgia" pitchFamily="34" charset="-122"/>
                <a:cs typeface="Georgia" pitchFamily="34" charset="-120"/>
              </a:rPr>
              <a:t>SECTION</a:t>
            </a:r>
            <a:endParaRPr lang="en-US" sz="1500" dirty="0"/>
          </a:p>
        </p:txBody>
      </p:sp>
      <p:sp>
        <p:nvSpPr>
          <p:cNvPr id="4" name="Text 2"/>
          <p:cNvSpPr/>
          <p:nvPr/>
        </p:nvSpPr>
        <p:spPr>
          <a:xfrm>
            <a:off x="658368" y="3017520"/>
            <a:ext cx="10874959" cy="1280160"/>
          </a:xfrm>
          <a:prstGeom prst="rect">
            <a:avLst/>
          </a:prstGeom>
          <a:noFill/>
          <a:ln/>
        </p:spPr>
        <p:txBody>
          <a:bodyPr wrap="square" rtlCol="0" anchor="t"/>
          <a:lstStyle/>
          <a:p>
            <a:pPr algn="l" indent="0" marL="0">
              <a:lnSpc>
                <a:spcPct val="110000"/>
              </a:lnSpc>
              <a:buNone/>
            </a:pPr>
            <a:r>
              <a:rPr lang="en-US" sz="4600" b="1" dirty="0">
                <a:solidFill>
                  <a:srgbClr val="F4F1E8"/>
                </a:solidFill>
                <a:latin typeface="Songti TC" pitchFamily="34" charset="0"/>
                <a:ea typeface="Songti TC" pitchFamily="34" charset="-122"/>
                <a:cs typeface="Songti TC" pitchFamily="34" charset="-120"/>
              </a:rPr>
              <a:t>換一個角度：AI 的診斷</a:t>
            </a:r>
            <a:endParaRPr lang="en-US" sz="4600" dirty="0"/>
          </a:p>
        </p:txBody>
      </p:sp>
      <p:sp>
        <p:nvSpPr>
          <p:cNvPr id="5" name="Text 3"/>
          <p:cNvSpPr/>
          <p:nvPr/>
        </p:nvSpPr>
        <p:spPr>
          <a:xfrm>
            <a:off x="658368" y="4343400"/>
            <a:ext cx="10874959" cy="457200"/>
          </a:xfrm>
          <a:prstGeom prst="rect">
            <a:avLst/>
          </a:prstGeom>
          <a:noFill/>
          <a:ln/>
        </p:spPr>
        <p:txBody>
          <a:bodyPr wrap="square" rtlCol="0" anchor="ctr"/>
          <a:lstStyle/>
          <a:p>
            <a:pPr indent="0" marL="0">
              <a:buNone/>
            </a:pPr>
            <a:r>
              <a:rPr lang="en-US" sz="1840" dirty="0">
                <a:solidFill>
                  <a:srgbClr val="C7D6CC"/>
                </a:solidFill>
                <a:latin typeface="Heiti TC" pitchFamily="34" charset="0"/>
                <a:ea typeface="Heiti TC" pitchFamily="34" charset="-122"/>
                <a:cs typeface="Heiti TC" pitchFamily="34" charset="-120"/>
              </a:rPr>
              <a:t>中廣「台灣加油無所不談」趙守博訪問薛承泰《少子化問題與政府的對策》2026.06.28 播出；以下為 Google NotebookLM 製作之受訪簡報</a:t>
            </a:r>
            <a:endParaRPr lang="en-US" sz="1840" dirty="0"/>
          </a:p>
        </p:txBody>
      </p:sp>
      <p:sp>
        <p:nvSpPr>
          <p:cNvPr id="6" name="Shape 4"/>
          <p:cNvSpPr/>
          <p:nvPr/>
        </p:nvSpPr>
        <p:spPr>
          <a:xfrm>
            <a:off x="658368" y="4206240"/>
            <a:ext cx="1005840" cy="27432"/>
          </a:xfrm>
          <a:prstGeom prst="rect">
            <a:avLst/>
          </a:prstGeom>
          <a:solidFill>
            <a:srgbClr val="B0562F"/>
          </a:solidFill>
          <a:ln/>
        </p:spPr>
      </p:sp>
      <p:sp>
        <p:nvSpPr>
          <p:cNvPr id="7" name="Text 5"/>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9DB4A8"/>
                </a:solidFill>
                <a:latin typeface="Heiti TC" pitchFamily="34" charset="0"/>
                <a:ea typeface="Heiti TC" pitchFamily="34" charset="-122"/>
                <a:cs typeface="Heiti TC" pitchFamily="34" charset="-120"/>
              </a:rPr>
              <a:t>薛承泰</a:t>
            </a:r>
            <a:pPr algn="l" indent="0" marL="0">
              <a:buNone/>
            </a:pPr>
            <a:r>
              <a:rPr lang="en-US" sz="1040" dirty="0">
                <a:solidFill>
                  <a:srgbClr val="9DB4A8"/>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8" name="Text 6"/>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9DB4A8"/>
                </a:solidFill>
                <a:latin typeface="Georgia" pitchFamily="34" charset="0"/>
                <a:ea typeface="Georgia" pitchFamily="34" charset="-122"/>
                <a:cs typeface="Georgia" pitchFamily="34" charset="-120"/>
              </a:rPr>
              <a:t>14 / 30</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NotebookLM · 診斷</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史上最大規模的投入，最嚴峻的生育低谷</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15 / 30</a:t>
            </a:r>
            <a:endParaRPr lang="en-US" sz="1150" dirty="0"/>
          </a:p>
        </p:txBody>
      </p:sp>
      <p:sp>
        <p:nvSpPr>
          <p:cNvPr id="7" name="Shape 5"/>
          <p:cNvSpPr/>
          <p:nvPr/>
        </p:nvSpPr>
        <p:spPr>
          <a:xfrm>
            <a:off x="658368" y="2130552"/>
            <a:ext cx="10874959" cy="2651760"/>
          </a:xfrm>
          <a:prstGeom prst="rect">
            <a:avLst>
              <a:gd name="adj" fmla="val 2069"/>
            </a:avLst>
          </a:prstGeom>
          <a:solidFill>
            <a:srgbClr val="FFFFFF"/>
          </a:solidFill>
          <a:ln w="12700">
            <a:solidFill>
              <a:srgbClr val="E4DED0"/>
            </a:solidFill>
            <a:prstDash val="solid"/>
          </a:ln>
        </p:spPr>
      </p:sp>
      <p:sp>
        <p:nvSpPr>
          <p:cNvPr id="8" name="Text 6"/>
          <p:cNvSpPr/>
          <p:nvPr/>
        </p:nvSpPr>
        <p:spPr>
          <a:xfrm>
            <a:off x="914400" y="2386584"/>
            <a:ext cx="10417759" cy="365760"/>
          </a:xfrm>
          <a:prstGeom prst="rect">
            <a:avLst/>
          </a:prstGeom>
          <a:noFill/>
          <a:ln/>
        </p:spPr>
        <p:txBody>
          <a:bodyPr wrap="square" rtlCol="0" anchor="ctr"/>
          <a:lstStyle/>
          <a:p>
            <a:pPr indent="0" marL="0">
              <a:buNone/>
            </a:pPr>
            <a:r>
              <a:rPr lang="en-US" sz="1610" b="1" dirty="0">
                <a:solidFill>
                  <a:srgbClr val="6E6A62"/>
                </a:solidFill>
                <a:latin typeface="Heiti TC" pitchFamily="34" charset="0"/>
                <a:ea typeface="Heiti TC" pitchFamily="34" charset="-122"/>
                <a:cs typeface="Heiti TC" pitchFamily="34" charset="-120"/>
              </a:rPr>
              <a:t>台灣人口對策新戰略總預算</a:t>
            </a:r>
            <a:endParaRPr lang="en-US" sz="1610" dirty="0"/>
          </a:p>
        </p:txBody>
      </p:sp>
      <p:sp>
        <p:nvSpPr>
          <p:cNvPr id="9" name="Text 7"/>
          <p:cNvSpPr/>
          <p:nvPr/>
        </p:nvSpPr>
        <p:spPr>
          <a:xfrm>
            <a:off x="914400" y="2907792"/>
            <a:ext cx="10417759" cy="548640"/>
          </a:xfrm>
          <a:prstGeom prst="rect">
            <a:avLst/>
          </a:prstGeom>
          <a:noFill/>
          <a:ln/>
        </p:spPr>
        <p:txBody>
          <a:bodyPr wrap="square" rtlCol="0" anchor="ctr"/>
          <a:lstStyle/>
          <a:p>
            <a:pPr algn="l" indent="0" marL="0">
              <a:buNone/>
            </a:pPr>
            <a:r>
              <a:rPr lang="en-US" sz="3450" b="1" dirty="0">
                <a:solidFill>
                  <a:srgbClr val="6E6A62"/>
                </a:solidFill>
                <a:latin typeface="Georgia" pitchFamily="34" charset="0"/>
                <a:ea typeface="Georgia" pitchFamily="34" charset="-122"/>
                <a:cs typeface="Georgia" pitchFamily="34" charset="-120"/>
              </a:rPr>
              <a:t>GOVERNMENT INVESTMENT</a:t>
            </a:r>
            <a:endParaRPr lang="en-US" sz="3450" dirty="0"/>
          </a:p>
        </p:txBody>
      </p:sp>
      <p:sp>
        <p:nvSpPr>
          <p:cNvPr id="10" name="Text 8"/>
          <p:cNvSpPr/>
          <p:nvPr/>
        </p:nvSpPr>
        <p:spPr>
          <a:xfrm>
            <a:off x="914400" y="3456432"/>
            <a:ext cx="548640" cy="365760"/>
          </a:xfrm>
          <a:prstGeom prst="rect">
            <a:avLst/>
          </a:prstGeom>
          <a:noFill/>
          <a:ln/>
        </p:spPr>
        <p:txBody>
          <a:bodyPr wrap="square" rtlCol="0" anchor="ctr"/>
          <a:lstStyle/>
          <a:p>
            <a:pPr indent="0" marL="0">
              <a:buNone/>
            </a:pPr>
            <a:r>
              <a:rPr lang="en-US" sz="2070" b="1" dirty="0">
                <a:solidFill>
                  <a:srgbClr val="B0562F"/>
                </a:solidFill>
                <a:latin typeface="Heiti TC" pitchFamily="34" charset="0"/>
                <a:ea typeface="Heiti TC" pitchFamily="34" charset="-122"/>
                <a:cs typeface="Heiti TC" pitchFamily="34" charset="-120"/>
              </a:rPr>
              <a:t>↓</a:t>
            </a:r>
            <a:endParaRPr lang="en-US" sz="2070" dirty="0"/>
          </a:p>
        </p:txBody>
      </p:sp>
      <p:sp>
        <p:nvSpPr>
          <p:cNvPr id="11" name="Text 9"/>
          <p:cNvSpPr/>
          <p:nvPr/>
        </p:nvSpPr>
        <p:spPr>
          <a:xfrm>
            <a:off x="914400" y="3730752"/>
            <a:ext cx="10417759" cy="731520"/>
          </a:xfrm>
          <a:prstGeom prst="rect">
            <a:avLst/>
          </a:prstGeom>
          <a:noFill/>
          <a:ln/>
        </p:spPr>
        <p:txBody>
          <a:bodyPr wrap="square" rtlCol="0" anchor="ctr"/>
          <a:lstStyle/>
          <a:p>
            <a:pPr algn="l" indent="0" marL="0">
              <a:buNone/>
            </a:pPr>
            <a:r>
              <a:rPr lang="en-US" sz="5060" b="1" dirty="0">
                <a:solidFill>
                  <a:srgbClr val="0E4536"/>
                </a:solidFill>
                <a:latin typeface="Georgia" pitchFamily="34" charset="0"/>
                <a:ea typeface="Georgia" pitchFamily="34" charset="-122"/>
                <a:cs typeface="Georgia" pitchFamily="34" charset="-120"/>
              </a:rPr>
              <a:t>3,800 億</a:t>
            </a:r>
            <a:endParaRPr lang="en-US" sz="5060" dirty="0"/>
          </a:p>
        </p:txBody>
      </p:sp>
      <p:sp>
        <p:nvSpPr>
          <p:cNvPr id="12" name="Text 10"/>
          <p:cNvSpPr/>
          <p:nvPr/>
        </p:nvSpPr>
        <p:spPr>
          <a:xfrm>
            <a:off x="914400" y="4416552"/>
            <a:ext cx="10417759" cy="274320"/>
          </a:xfrm>
          <a:prstGeom prst="rect">
            <a:avLst/>
          </a:prstGeom>
          <a:noFill/>
          <a:ln/>
        </p:spPr>
        <p:txBody>
          <a:bodyPr wrap="square" rtlCol="0" anchor="ctr"/>
          <a:lstStyle/>
          <a:p>
            <a:pPr indent="0" marL="0">
              <a:buNone/>
            </a:pPr>
            <a:r>
              <a:rPr lang="en-US" sz="1440" dirty="0">
                <a:solidFill>
                  <a:srgbClr val="6E6A62"/>
                </a:solidFill>
                <a:latin typeface="Heiti TC" pitchFamily="34" charset="0"/>
                <a:ea typeface="Heiti TC" pitchFamily="34" charset="-122"/>
                <a:cs typeface="Heiti TC" pitchFamily="34" charset="-120"/>
              </a:rPr>
              <a:t>新台幣投入，卻未扭轉生育趨勢</a:t>
            </a:r>
            <a:endParaRPr lang="en-US" sz="1440" dirty="0"/>
          </a:p>
        </p:txBody>
      </p:sp>
      <p:sp>
        <p:nvSpPr>
          <p:cNvPr id="13" name="Text 11"/>
          <p:cNvSpPr/>
          <p:nvPr/>
        </p:nvSpPr>
        <p:spPr>
          <a:xfrm>
            <a:off x="658368" y="5038344"/>
            <a:ext cx="10874959" cy="1051560"/>
          </a:xfrm>
          <a:prstGeom prst="rect">
            <a:avLst/>
          </a:prstGeom>
          <a:noFill/>
          <a:ln/>
        </p:spPr>
        <p:txBody>
          <a:bodyPr wrap="square" rtlCol="0" anchor="t"/>
          <a:lstStyle/>
          <a:p>
            <a:pPr algn="l" indent="0" marL="0">
              <a:lnSpc>
                <a:spcPct val="140000"/>
              </a:lnSpc>
              <a:buNone/>
            </a:pPr>
            <a:r>
              <a:rPr lang="en-US" sz="1500" i="1" dirty="0">
                <a:solidFill>
                  <a:srgbClr val="6E6A62"/>
                </a:solidFill>
                <a:latin typeface="Heiti TC" pitchFamily="34" charset="0"/>
                <a:ea typeface="Heiti TC" pitchFamily="34" charset="-122"/>
                <a:cs typeface="Heiti TC" pitchFamily="34" charset="-120"/>
              </a:rPr>
              <a:t>鉅額的預算投入並未扭轉趨勢。我們必須停下來問：這筆錢，真的「對症下藥」了嗎？（NATIONAL FERTILITY TRAJECTORY：Previous Trend → Baseline → Current Low）</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NotebookLM · 診斷</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2650" b="1" dirty="0">
                <a:solidFill>
                  <a:srgbClr val="1B1B18"/>
                </a:solidFill>
                <a:latin typeface="Songti TC" pitchFamily="34" charset="0"/>
                <a:ea typeface="Songti TC" pitchFamily="34" charset="-122"/>
                <a:cs typeface="Songti TC" pitchFamily="34" charset="-120"/>
              </a:rPr>
              <a:t>政策資源的高度集中：將「養不起」視為唯一病灶</a:t>
            </a:r>
            <a:endParaRPr lang="en-US" sz="265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16 / 30</a:t>
            </a:r>
            <a:endParaRPr lang="en-US" sz="1150" dirty="0"/>
          </a:p>
        </p:txBody>
      </p:sp>
      <p:sp>
        <p:nvSpPr>
          <p:cNvPr id="7" name="Text 5"/>
          <p:cNvSpPr/>
          <p:nvPr/>
        </p:nvSpPr>
        <p:spPr>
          <a:xfrm>
            <a:off x="704088" y="1947672"/>
            <a:ext cx="5117440" cy="1563624"/>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青年居住與購屋支持</a:t>
            </a:r>
            <a:endParaRPr lang="en-US" sz="1950" dirty="0"/>
          </a:p>
        </p:txBody>
      </p:sp>
      <p:sp>
        <p:nvSpPr>
          <p:cNvPr id="8" name="Text 6"/>
          <p:cNvSpPr/>
          <p:nvPr/>
        </p:nvSpPr>
        <p:spPr>
          <a:xfrm>
            <a:off x="704088" y="3785616"/>
            <a:ext cx="5117440" cy="1563624"/>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托育補貼與育兒津貼（0–6 歲）</a:t>
            </a:r>
            <a:endParaRPr lang="en-US" sz="1950" dirty="0"/>
          </a:p>
        </p:txBody>
      </p:sp>
      <p:sp>
        <p:nvSpPr>
          <p:cNvPr id="9" name="Text 7"/>
          <p:cNvSpPr/>
          <p:nvPr/>
        </p:nvSpPr>
        <p:spPr>
          <a:xfrm>
            <a:off x="6415888" y="1947672"/>
            <a:ext cx="5117440" cy="1563624"/>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職場與家庭平衡環境</a:t>
            </a:r>
            <a:endParaRPr lang="en-US" sz="1950" dirty="0"/>
          </a:p>
        </p:txBody>
      </p:sp>
      <p:sp>
        <p:nvSpPr>
          <p:cNvPr id="10" name="Text 8"/>
          <p:cNvSpPr/>
          <p:nvPr/>
        </p:nvSpPr>
        <p:spPr>
          <a:xfrm>
            <a:off x="6415888" y="3785616"/>
            <a:ext cx="5117440" cy="1563624"/>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婚育價值觀與文化重塑</a:t>
            </a:r>
            <a:endParaRPr lang="en-US" sz="1950" dirty="0"/>
          </a:p>
        </p:txBody>
      </p:sp>
      <p:sp>
        <p:nvSpPr>
          <p:cNvPr id="11" name="Text 9"/>
          <p:cNvSpPr/>
          <p:nvPr/>
        </p:nvSpPr>
        <p:spPr>
          <a:xfrm>
            <a:off x="658368" y="5623560"/>
            <a:ext cx="10874959" cy="685800"/>
          </a:xfrm>
          <a:prstGeom prst="rect">
            <a:avLst/>
          </a:prstGeom>
          <a:noFill/>
          <a:ln/>
        </p:spPr>
        <p:txBody>
          <a:bodyPr wrap="square" rtlCol="0" anchor="t"/>
          <a:lstStyle/>
          <a:p>
            <a:pPr algn="l" indent="0" marL="0">
              <a:lnSpc>
                <a:spcPct val="135000"/>
              </a:lnSpc>
              <a:buNone/>
            </a:pPr>
            <a:r>
              <a:rPr lang="en-US" sz="1550" i="1" dirty="0">
                <a:solidFill>
                  <a:srgbClr val="6E6A62"/>
                </a:solidFill>
                <a:latin typeface="Heiti TC" pitchFamily="34" charset="0"/>
                <a:ea typeface="Heiti TC" pitchFamily="34" charset="-122"/>
                <a:cs typeface="Heiti TC" pitchFamily="34" charset="-120"/>
              </a:rPr>
              <a:t>政府的隱性假設：年輕人是因為缺乏『育兒資金』而拒絕生育。因此，政策高度傾斜於減輕產後的財務負擔。</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NotebookLM · 診斷</a:t>
            </a:r>
            <a:endParaRPr lang="en-US" sz="1380" dirty="0"/>
          </a:p>
        </p:txBody>
      </p:sp>
      <p:sp>
        <p:nvSpPr>
          <p:cNvPr id="3" name="Text 1"/>
          <p:cNvSpPr/>
          <p:nvPr/>
        </p:nvSpPr>
        <p:spPr>
          <a:xfrm>
            <a:off x="658368" y="950976"/>
            <a:ext cx="10874959" cy="868680"/>
          </a:xfrm>
          <a:prstGeom prst="rect">
            <a:avLst/>
          </a:prstGeom>
          <a:noFill/>
          <a:ln/>
        </p:spPr>
        <p:txBody>
          <a:bodyPr wrap="square" rtlCol="0" anchor="t"/>
          <a:lstStyle/>
          <a:p>
            <a:pPr algn="l" indent="0" marL="0">
              <a:lnSpc>
                <a:spcPct val="105000"/>
              </a:lnSpc>
              <a:buNone/>
            </a:pPr>
            <a:r>
              <a:rPr lang="en-US" sz="3220" b="1" dirty="0">
                <a:solidFill>
                  <a:srgbClr val="1B1B18"/>
                </a:solidFill>
                <a:latin typeface="Songti TC" pitchFamily="34" charset="0"/>
                <a:ea typeface="Songti TC" pitchFamily="34" charset="-122"/>
                <a:cs typeface="Songti TC" pitchFamily="34" charset="-120"/>
              </a:rPr>
              <a:t>迫在眉睫的國安危機：勞動力與扶養比的死亡交叉</a:t>
            </a:r>
            <a:endParaRPr lang="en-US" sz="3220" dirty="0"/>
          </a:p>
        </p:txBody>
      </p:sp>
      <p:sp>
        <p:nvSpPr>
          <p:cNvPr id="4" name="Shape 2"/>
          <p:cNvSpPr/>
          <p:nvPr/>
        </p:nvSpPr>
        <p:spPr>
          <a:xfrm>
            <a:off x="658368" y="18745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17 / 30</a:t>
            </a:r>
            <a:endParaRPr lang="en-US" sz="1150" dirty="0"/>
          </a:p>
        </p:txBody>
      </p:sp>
      <p:sp>
        <p:nvSpPr>
          <p:cNvPr id="7" name="Shape 5"/>
          <p:cNvSpPr/>
          <p:nvPr/>
        </p:nvSpPr>
        <p:spPr>
          <a:xfrm>
            <a:off x="658368" y="2450592"/>
            <a:ext cx="5208880" cy="2377440"/>
          </a:xfrm>
          <a:prstGeom prst="rect">
            <a:avLst>
              <a:gd name="adj" fmla="val 2308"/>
            </a:avLst>
          </a:prstGeom>
          <a:solidFill>
            <a:srgbClr val="FFFFFF"/>
          </a:solidFill>
          <a:ln w="12700">
            <a:solidFill>
              <a:srgbClr val="E4DED0"/>
            </a:solidFill>
            <a:prstDash val="solid"/>
          </a:ln>
        </p:spPr>
      </p:sp>
      <p:sp>
        <p:nvSpPr>
          <p:cNvPr id="8" name="Text 6"/>
          <p:cNvSpPr/>
          <p:nvPr/>
        </p:nvSpPr>
        <p:spPr>
          <a:xfrm>
            <a:off x="886968" y="2770632"/>
            <a:ext cx="4751680" cy="914400"/>
          </a:xfrm>
          <a:prstGeom prst="rect">
            <a:avLst/>
          </a:prstGeom>
          <a:noFill/>
          <a:ln/>
        </p:spPr>
        <p:txBody>
          <a:bodyPr wrap="square" rtlCol="0" anchor="t"/>
          <a:lstStyle/>
          <a:p>
            <a:pPr algn="l" indent="0" marL="0">
              <a:lnSpc>
                <a:spcPct val="100000"/>
              </a:lnSpc>
              <a:buNone/>
            </a:pPr>
            <a:r>
              <a:rPr lang="en-US" sz="2990" b="1" dirty="0">
                <a:solidFill>
                  <a:srgbClr val="0E4536"/>
                </a:solidFill>
                <a:latin typeface="Georgia" pitchFamily="34" charset="0"/>
                <a:ea typeface="Georgia" pitchFamily="34" charset="-122"/>
                <a:cs typeface="Georgia" pitchFamily="34" charset="-120"/>
              </a:rPr>
              <a:t>勞動力</a:t>
            </a:r>
            <a:endParaRPr lang="en-US" sz="2990" dirty="0"/>
          </a:p>
          <a:p>
            <a:pPr algn="l" indent="0" marL="0">
              <a:lnSpc>
                <a:spcPct val="100000"/>
              </a:lnSpc>
              <a:buNone/>
            </a:pPr>
            <a:r>
              <a:rPr lang="en-US" sz="2990" b="1" dirty="0">
                <a:solidFill>
                  <a:srgbClr val="0E4536"/>
                </a:solidFill>
                <a:latin typeface="Georgia" pitchFamily="34" charset="0"/>
                <a:ea typeface="Georgia" pitchFamily="34" charset="-122"/>
                <a:cs typeface="Georgia" pitchFamily="34" charset="-120"/>
              </a:rPr>
              <a:t>急劇萎縮</a:t>
            </a:r>
            <a:endParaRPr lang="en-US" sz="2990" dirty="0"/>
          </a:p>
        </p:txBody>
      </p:sp>
      <p:sp>
        <p:nvSpPr>
          <p:cNvPr id="9" name="Text 7"/>
          <p:cNvSpPr/>
          <p:nvPr/>
        </p:nvSpPr>
        <p:spPr>
          <a:xfrm>
            <a:off x="886968" y="3822192"/>
            <a:ext cx="4751680" cy="822960"/>
          </a:xfrm>
          <a:prstGeom prst="rect">
            <a:avLst/>
          </a:prstGeom>
          <a:noFill/>
          <a:ln/>
        </p:spPr>
        <p:txBody>
          <a:bodyPr wrap="square" rtlCol="0" anchor="t"/>
          <a:lstStyle/>
          <a:p>
            <a:pPr algn="l" indent="0" marL="0">
              <a:lnSpc>
                <a:spcPct val="135000"/>
              </a:lnSpc>
              <a:buNone/>
            </a:pPr>
            <a:r>
              <a:rPr lang="en-US" sz="1610" dirty="0">
                <a:solidFill>
                  <a:srgbClr val="38352E"/>
                </a:solidFill>
                <a:latin typeface="Heiti TC" pitchFamily="34" charset="0"/>
                <a:ea typeface="Heiti TC" pitchFamily="34" charset="-122"/>
                <a:cs typeface="Heiti TC" pitchFamily="34" charset="-120"/>
              </a:rPr>
              <a:t>青壯年勞動人口的承載壓力，未來十年將突破歷史極值。</a:t>
            </a:r>
            <a:endParaRPr lang="en-US" sz="1610" dirty="0"/>
          </a:p>
        </p:txBody>
      </p:sp>
      <p:sp>
        <p:nvSpPr>
          <p:cNvPr id="10" name="Shape 8"/>
          <p:cNvSpPr/>
          <p:nvPr/>
        </p:nvSpPr>
        <p:spPr>
          <a:xfrm>
            <a:off x="6324448" y="2450592"/>
            <a:ext cx="5208880" cy="2377440"/>
          </a:xfrm>
          <a:prstGeom prst="rect">
            <a:avLst>
              <a:gd name="adj" fmla="val 2308"/>
            </a:avLst>
          </a:prstGeom>
          <a:solidFill>
            <a:srgbClr val="FFFFFF"/>
          </a:solidFill>
          <a:ln w="12700">
            <a:solidFill>
              <a:srgbClr val="E4DED0"/>
            </a:solidFill>
            <a:prstDash val="solid"/>
          </a:ln>
        </p:spPr>
      </p:sp>
      <p:sp>
        <p:nvSpPr>
          <p:cNvPr id="11" name="Text 9"/>
          <p:cNvSpPr/>
          <p:nvPr/>
        </p:nvSpPr>
        <p:spPr>
          <a:xfrm>
            <a:off x="6553048" y="2770632"/>
            <a:ext cx="4751680" cy="914400"/>
          </a:xfrm>
          <a:prstGeom prst="rect">
            <a:avLst/>
          </a:prstGeom>
          <a:noFill/>
          <a:ln/>
        </p:spPr>
        <p:txBody>
          <a:bodyPr wrap="square" rtlCol="0" anchor="t"/>
          <a:lstStyle/>
          <a:p>
            <a:pPr algn="l" indent="0" marL="0">
              <a:lnSpc>
                <a:spcPct val="100000"/>
              </a:lnSpc>
              <a:buNone/>
            </a:pPr>
            <a:r>
              <a:rPr lang="en-US" sz="2990" b="1" dirty="0">
                <a:solidFill>
                  <a:srgbClr val="0E4536"/>
                </a:solidFill>
                <a:latin typeface="Georgia" pitchFamily="34" charset="0"/>
                <a:ea typeface="Georgia" pitchFamily="34" charset="-122"/>
                <a:cs typeface="Georgia" pitchFamily="34" charset="-120"/>
              </a:rPr>
              <a:t>高齡扶養比</a:t>
            </a:r>
            <a:endParaRPr lang="en-US" sz="2990" dirty="0"/>
          </a:p>
          <a:p>
            <a:pPr algn="l" indent="0" marL="0">
              <a:lnSpc>
                <a:spcPct val="100000"/>
              </a:lnSpc>
              <a:buNone/>
            </a:pPr>
            <a:r>
              <a:rPr lang="en-US" sz="2990" b="1" dirty="0">
                <a:solidFill>
                  <a:srgbClr val="0E4536"/>
                </a:solidFill>
                <a:latin typeface="Georgia" pitchFamily="34" charset="0"/>
                <a:ea typeface="Georgia" pitchFamily="34" charset="-122"/>
                <a:cs typeface="Georgia" pitchFamily="34" charset="-120"/>
              </a:rPr>
              <a:t>急速攀升</a:t>
            </a:r>
            <a:endParaRPr lang="en-US" sz="2990" dirty="0"/>
          </a:p>
        </p:txBody>
      </p:sp>
      <p:sp>
        <p:nvSpPr>
          <p:cNvPr id="12" name="Text 10"/>
          <p:cNvSpPr/>
          <p:nvPr/>
        </p:nvSpPr>
        <p:spPr>
          <a:xfrm>
            <a:off x="6553048" y="3822192"/>
            <a:ext cx="4751680" cy="822960"/>
          </a:xfrm>
          <a:prstGeom prst="rect">
            <a:avLst/>
          </a:prstGeom>
          <a:noFill/>
          <a:ln/>
        </p:spPr>
        <p:txBody>
          <a:bodyPr wrap="square" rtlCol="0" anchor="t"/>
          <a:lstStyle/>
          <a:p>
            <a:pPr algn="l" indent="0" marL="0">
              <a:lnSpc>
                <a:spcPct val="135000"/>
              </a:lnSpc>
              <a:buNone/>
            </a:pPr>
            <a:r>
              <a:rPr lang="en-US" sz="1610" dirty="0">
                <a:solidFill>
                  <a:srgbClr val="38352E"/>
                </a:solidFill>
                <a:latin typeface="Heiti TC" pitchFamily="34" charset="0"/>
                <a:ea typeface="Heiti TC" pitchFamily="34" charset="-122"/>
                <a:cs typeface="Heiti TC" pitchFamily="34" charset="-120"/>
              </a:rPr>
              <a:t>結構性崩塌預警：撫養負擔快速轉嫁至日益稀少的工作世代。</a:t>
            </a:r>
            <a:endParaRPr lang="en-US" sz="1610" dirty="0"/>
          </a:p>
        </p:txBody>
      </p:sp>
      <p:sp>
        <p:nvSpPr>
          <p:cNvPr id="13" name="Text 11"/>
          <p:cNvSpPr/>
          <p:nvPr/>
        </p:nvSpPr>
        <p:spPr>
          <a:xfrm>
            <a:off x="658368" y="5102352"/>
            <a:ext cx="10874959" cy="822960"/>
          </a:xfrm>
          <a:prstGeom prst="rect">
            <a:avLst/>
          </a:prstGeom>
          <a:noFill/>
          <a:ln/>
        </p:spPr>
        <p:txBody>
          <a:bodyPr wrap="square" rtlCol="0" anchor="t"/>
          <a:lstStyle/>
          <a:p>
            <a:pPr algn="ctr" indent="0" marL="0">
              <a:lnSpc>
                <a:spcPct val="135000"/>
              </a:lnSpc>
              <a:buNone/>
            </a:pPr>
            <a:r>
              <a:rPr lang="en-US" sz="2070" b="1" i="1" dirty="0">
                <a:solidFill>
                  <a:srgbClr val="B0562F"/>
                </a:solidFill>
                <a:latin typeface="Songti TC" pitchFamily="34" charset="0"/>
                <a:ea typeface="Songti TC" pitchFamily="34" charset="-122"/>
                <a:cs typeface="Songti TC" pitchFamily="34" charset="-120"/>
              </a:rPr>
              <a:t>「養不起」若被視為少子化的唯一病灶，將錯失真正的結構性危機。</a:t>
            </a:r>
            <a:endParaRPr lang="en-US" sz="207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NotebookLM · 診斷</a:t>
            </a:r>
            <a:endParaRPr lang="en-US" sz="1380" dirty="0"/>
          </a:p>
        </p:txBody>
      </p:sp>
      <p:sp>
        <p:nvSpPr>
          <p:cNvPr id="3" name="Text 1"/>
          <p:cNvSpPr/>
          <p:nvPr/>
        </p:nvSpPr>
        <p:spPr>
          <a:xfrm>
            <a:off x="658368" y="950976"/>
            <a:ext cx="10874959" cy="868680"/>
          </a:xfrm>
          <a:prstGeom prst="rect">
            <a:avLst/>
          </a:prstGeom>
          <a:noFill/>
          <a:ln/>
        </p:spPr>
        <p:txBody>
          <a:bodyPr wrap="square" rtlCol="0" anchor="t"/>
          <a:lstStyle/>
          <a:p>
            <a:pPr algn="l" indent="0" marL="0">
              <a:lnSpc>
                <a:spcPct val="105000"/>
              </a:lnSpc>
              <a:buNone/>
            </a:pPr>
            <a:r>
              <a:rPr lang="en-US" sz="3220" b="1" dirty="0">
                <a:solidFill>
                  <a:srgbClr val="1B1B18"/>
                </a:solidFill>
                <a:latin typeface="Songti TC" pitchFamily="34" charset="0"/>
                <a:ea typeface="Songti TC" pitchFamily="34" charset="-122"/>
                <a:cs typeface="Songti TC" pitchFamily="34" charset="-120"/>
              </a:rPr>
              <a:t>巨額預算的「資源稀釋效應」</a:t>
            </a:r>
            <a:endParaRPr lang="en-US" sz="3220" dirty="0"/>
          </a:p>
        </p:txBody>
      </p:sp>
      <p:sp>
        <p:nvSpPr>
          <p:cNvPr id="4" name="Shape 2"/>
          <p:cNvSpPr/>
          <p:nvPr/>
        </p:nvSpPr>
        <p:spPr>
          <a:xfrm>
            <a:off x="658368" y="18745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18 / 30</a:t>
            </a:r>
            <a:endParaRPr lang="en-US" sz="1150" dirty="0"/>
          </a:p>
        </p:txBody>
      </p:sp>
      <p:sp>
        <p:nvSpPr>
          <p:cNvPr id="7" name="Shape 5"/>
          <p:cNvSpPr/>
          <p:nvPr/>
        </p:nvSpPr>
        <p:spPr>
          <a:xfrm>
            <a:off x="658368" y="2450592"/>
            <a:ext cx="5208880" cy="2377440"/>
          </a:xfrm>
          <a:prstGeom prst="rect">
            <a:avLst>
              <a:gd name="adj" fmla="val 2308"/>
            </a:avLst>
          </a:prstGeom>
          <a:solidFill>
            <a:srgbClr val="FFFFFF"/>
          </a:solidFill>
          <a:ln w="12700">
            <a:solidFill>
              <a:srgbClr val="E4DED0"/>
            </a:solidFill>
            <a:prstDash val="solid"/>
          </a:ln>
        </p:spPr>
      </p:sp>
      <p:sp>
        <p:nvSpPr>
          <p:cNvPr id="8" name="Text 6"/>
          <p:cNvSpPr/>
          <p:nvPr/>
        </p:nvSpPr>
        <p:spPr>
          <a:xfrm>
            <a:off x="886968" y="2770632"/>
            <a:ext cx="4751680" cy="914400"/>
          </a:xfrm>
          <a:prstGeom prst="rect">
            <a:avLst/>
          </a:prstGeom>
          <a:noFill/>
          <a:ln/>
        </p:spPr>
        <p:txBody>
          <a:bodyPr wrap="square" rtlCol="0" anchor="t"/>
          <a:lstStyle/>
          <a:p>
            <a:pPr algn="l" indent="0" marL="0">
              <a:lnSpc>
                <a:spcPct val="100000"/>
              </a:lnSpc>
              <a:buNone/>
            </a:pPr>
            <a:r>
              <a:rPr lang="en-US" sz="2990" b="1" dirty="0">
                <a:solidFill>
                  <a:srgbClr val="0E4536"/>
                </a:solidFill>
                <a:latin typeface="Georgia" pitchFamily="34" charset="0"/>
                <a:ea typeface="Georgia" pitchFamily="34" charset="-122"/>
                <a:cs typeface="Georgia" pitchFamily="34" charset="-120"/>
              </a:rPr>
              <a:t>3,800 億</a:t>
            </a:r>
            <a:endParaRPr lang="en-US" sz="2990" dirty="0"/>
          </a:p>
          <a:p>
            <a:pPr algn="l" indent="0" marL="0">
              <a:lnSpc>
                <a:spcPct val="100000"/>
              </a:lnSpc>
              <a:buNone/>
            </a:pPr>
            <a:r>
              <a:rPr lang="en-US" sz="2990" b="1" dirty="0">
                <a:solidFill>
                  <a:srgbClr val="0E4536"/>
                </a:solidFill>
                <a:latin typeface="Georgia" pitchFamily="34" charset="0"/>
                <a:ea typeface="Georgia" pitchFamily="34" charset="-122"/>
                <a:cs typeface="Georgia" pitchFamily="34" charset="-120"/>
              </a:rPr>
              <a:t>總預算</a:t>
            </a:r>
            <a:endParaRPr lang="en-US" sz="2990" dirty="0"/>
          </a:p>
        </p:txBody>
      </p:sp>
      <p:sp>
        <p:nvSpPr>
          <p:cNvPr id="9" name="Text 7"/>
          <p:cNvSpPr/>
          <p:nvPr/>
        </p:nvSpPr>
        <p:spPr>
          <a:xfrm>
            <a:off x="886968" y="3822192"/>
            <a:ext cx="4751680" cy="822960"/>
          </a:xfrm>
          <a:prstGeom prst="rect">
            <a:avLst/>
          </a:prstGeom>
          <a:noFill/>
          <a:ln/>
        </p:spPr>
        <p:txBody>
          <a:bodyPr wrap="square" rtlCol="0" anchor="t"/>
          <a:lstStyle/>
          <a:p>
            <a:pPr algn="l" indent="0" marL="0">
              <a:lnSpc>
                <a:spcPct val="135000"/>
              </a:lnSpc>
              <a:buNone/>
            </a:pPr>
            <a:r>
              <a:rPr lang="en-US" sz="1610" dirty="0">
                <a:solidFill>
                  <a:srgbClr val="38352E"/>
                </a:solidFill>
                <a:latin typeface="Heiti TC" pitchFamily="34" charset="0"/>
                <a:ea typeface="Heiti TC" pitchFamily="34" charset="-122"/>
                <a:cs typeface="Heiti TC" pitchFamily="34" charset="-120"/>
              </a:rPr>
              <a:t>分攤至漫長的育兒歲月與百萬家庭。</a:t>
            </a:r>
            <a:endParaRPr lang="en-US" sz="1610" dirty="0"/>
          </a:p>
        </p:txBody>
      </p:sp>
      <p:sp>
        <p:nvSpPr>
          <p:cNvPr id="10" name="Shape 8"/>
          <p:cNvSpPr/>
          <p:nvPr/>
        </p:nvSpPr>
        <p:spPr>
          <a:xfrm>
            <a:off x="6324448" y="2450592"/>
            <a:ext cx="5208880" cy="2377440"/>
          </a:xfrm>
          <a:prstGeom prst="rect">
            <a:avLst>
              <a:gd name="adj" fmla="val 2308"/>
            </a:avLst>
          </a:prstGeom>
          <a:solidFill>
            <a:srgbClr val="FFFFFF"/>
          </a:solidFill>
          <a:ln w="12700">
            <a:solidFill>
              <a:srgbClr val="E4DED0"/>
            </a:solidFill>
            <a:prstDash val="solid"/>
          </a:ln>
        </p:spPr>
      </p:sp>
      <p:sp>
        <p:nvSpPr>
          <p:cNvPr id="11" name="Text 9"/>
          <p:cNvSpPr/>
          <p:nvPr/>
        </p:nvSpPr>
        <p:spPr>
          <a:xfrm>
            <a:off x="6553048" y="2770632"/>
            <a:ext cx="4751680" cy="914400"/>
          </a:xfrm>
          <a:prstGeom prst="rect">
            <a:avLst/>
          </a:prstGeom>
          <a:noFill/>
          <a:ln/>
        </p:spPr>
        <p:txBody>
          <a:bodyPr wrap="square" rtlCol="0" anchor="t"/>
          <a:lstStyle/>
          <a:p>
            <a:pPr algn="l" indent="0" marL="0">
              <a:lnSpc>
                <a:spcPct val="100000"/>
              </a:lnSpc>
              <a:buNone/>
            </a:pPr>
            <a:r>
              <a:rPr lang="en-US" sz="2990" b="1" dirty="0">
                <a:solidFill>
                  <a:srgbClr val="0E4536"/>
                </a:solidFill>
                <a:latin typeface="Georgia" pitchFamily="34" charset="0"/>
                <a:ea typeface="Georgia" pitchFamily="34" charset="-122"/>
                <a:cs typeface="Georgia" pitchFamily="34" charset="-120"/>
              </a:rPr>
              <a:t>每月數千元</a:t>
            </a:r>
            <a:endParaRPr lang="en-US" sz="2990" dirty="0"/>
          </a:p>
          <a:p>
            <a:pPr algn="l" indent="0" marL="0">
              <a:lnSpc>
                <a:spcPct val="100000"/>
              </a:lnSpc>
              <a:buNone/>
            </a:pPr>
            <a:r>
              <a:rPr lang="en-US" sz="2990" b="1" dirty="0">
                <a:solidFill>
                  <a:srgbClr val="0E4536"/>
                </a:solidFill>
                <a:latin typeface="Georgia" pitchFamily="34" charset="0"/>
                <a:ea typeface="Georgia" pitchFamily="34" charset="-122"/>
                <a:cs typeface="Georgia" pitchFamily="34" charset="-120"/>
              </a:rPr>
              <a:t>實質津貼</a:t>
            </a:r>
            <a:endParaRPr lang="en-US" sz="2990" dirty="0"/>
          </a:p>
        </p:txBody>
      </p:sp>
      <p:sp>
        <p:nvSpPr>
          <p:cNvPr id="12" name="Text 10"/>
          <p:cNvSpPr/>
          <p:nvPr/>
        </p:nvSpPr>
        <p:spPr>
          <a:xfrm>
            <a:off x="6553048" y="3822192"/>
            <a:ext cx="4751680" cy="822960"/>
          </a:xfrm>
          <a:prstGeom prst="rect">
            <a:avLst/>
          </a:prstGeom>
          <a:noFill/>
          <a:ln/>
        </p:spPr>
        <p:txBody>
          <a:bodyPr wrap="square" rtlCol="0" anchor="t"/>
          <a:lstStyle/>
          <a:p>
            <a:pPr algn="l" indent="0" marL="0">
              <a:lnSpc>
                <a:spcPct val="135000"/>
              </a:lnSpc>
              <a:buNone/>
            </a:pPr>
            <a:r>
              <a:rPr lang="en-US" sz="1610" dirty="0">
                <a:solidFill>
                  <a:srgbClr val="38352E"/>
                </a:solidFill>
                <a:latin typeface="Heiti TC" pitchFamily="34" charset="0"/>
                <a:ea typeface="Heiti TC" pitchFamily="34" charset="-122"/>
                <a:cs typeface="Heiti TC" pitchFamily="34" charset="-120"/>
              </a:rPr>
              <a:t>面對通膨巨獸與千萬房價，補貼的實質感受度被極大稀釋。</a:t>
            </a:r>
            <a:endParaRPr lang="en-US" sz="1610" dirty="0"/>
          </a:p>
        </p:txBody>
      </p:sp>
      <p:sp>
        <p:nvSpPr>
          <p:cNvPr id="13" name="Text 11"/>
          <p:cNvSpPr/>
          <p:nvPr/>
        </p:nvSpPr>
        <p:spPr>
          <a:xfrm>
            <a:off x="658368" y="5102352"/>
            <a:ext cx="10874959" cy="822960"/>
          </a:xfrm>
          <a:prstGeom prst="rect">
            <a:avLst/>
          </a:prstGeom>
          <a:noFill/>
          <a:ln/>
        </p:spPr>
        <p:txBody>
          <a:bodyPr wrap="square" rtlCol="0" anchor="t"/>
          <a:lstStyle/>
          <a:p>
            <a:pPr algn="ctr" indent="0" marL="0">
              <a:lnSpc>
                <a:spcPct val="135000"/>
              </a:lnSpc>
              <a:buNone/>
            </a:pPr>
            <a:r>
              <a:rPr lang="en-US" sz="2070" b="1" i="1" dirty="0">
                <a:solidFill>
                  <a:srgbClr val="B0562F"/>
                </a:solidFill>
                <a:latin typeface="Songti TC" pitchFamily="34" charset="0"/>
                <a:ea typeface="Songti TC" pitchFamily="34" charset="-122"/>
                <a:cs typeface="Songti TC" pitchFamily="34" charset="-120"/>
              </a:rPr>
              <a:t>猶如杯水車薪——巨額預算無法對抗宏觀經濟的重壓。</a:t>
            </a:r>
            <a:endParaRPr lang="en-US" sz="207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640080"/>
            <a:ext cx="10874959" cy="274320"/>
          </a:xfrm>
          <a:prstGeom prst="rect">
            <a:avLst/>
          </a:prstGeom>
          <a:noFill/>
          <a:ln/>
        </p:spPr>
        <p:txBody>
          <a:bodyPr wrap="square" rtlCol="0" anchor="ctr"/>
          <a:lstStyle/>
          <a:p>
            <a:pPr indent="0" marL="0">
              <a:buNone/>
            </a:pPr>
            <a:r>
              <a:rPr lang="en-US" sz="1380" b="1" spc="300" kern="0" dirty="0">
                <a:solidFill>
                  <a:srgbClr val="B0562F"/>
                </a:solidFill>
                <a:latin typeface="Georgia" pitchFamily="34" charset="0"/>
                <a:ea typeface="Georgia" pitchFamily="34" charset="-122"/>
                <a:cs typeface="Georgia" pitchFamily="34" charset="-120"/>
              </a:rPr>
              <a:t>NotebookLM · 專家會診</a:t>
            </a:r>
            <a:endParaRPr lang="en-US" sz="1380" dirty="0"/>
          </a:p>
        </p:txBody>
      </p:sp>
      <p:sp>
        <p:nvSpPr>
          <p:cNvPr id="3" name="Text 1"/>
          <p:cNvSpPr/>
          <p:nvPr/>
        </p:nvSpPr>
        <p:spPr>
          <a:xfrm>
            <a:off x="612648" y="914400"/>
            <a:ext cx="1828800" cy="1280160"/>
          </a:xfrm>
          <a:prstGeom prst="rect">
            <a:avLst/>
          </a:prstGeom>
          <a:noFill/>
          <a:ln/>
        </p:spPr>
        <p:txBody>
          <a:bodyPr wrap="square" rtlCol="0" anchor="ctr"/>
          <a:lstStyle/>
          <a:p>
            <a:pPr indent="0" marL="0">
              <a:buNone/>
            </a:pPr>
            <a:r>
              <a:rPr lang="en-US" sz="13800" b="1" dirty="0">
                <a:solidFill>
                  <a:srgbClr val="CBD8CF"/>
                </a:solidFill>
                <a:latin typeface="Songti TC" pitchFamily="34" charset="0"/>
                <a:ea typeface="Songti TC" pitchFamily="34" charset="-122"/>
                <a:cs typeface="Songti TC" pitchFamily="34" charset="-120"/>
              </a:rPr>
              <a:t>“</a:t>
            </a:r>
            <a:endParaRPr lang="en-US" sz="13800" dirty="0"/>
          </a:p>
        </p:txBody>
      </p:sp>
      <p:sp>
        <p:nvSpPr>
          <p:cNvPr id="4" name="Text 2"/>
          <p:cNvSpPr/>
          <p:nvPr/>
        </p:nvSpPr>
        <p:spPr>
          <a:xfrm>
            <a:off x="749808" y="1965960"/>
            <a:ext cx="10326319" cy="2926080"/>
          </a:xfrm>
          <a:prstGeom prst="rect">
            <a:avLst/>
          </a:prstGeom>
          <a:noFill/>
          <a:ln/>
        </p:spPr>
        <p:txBody>
          <a:bodyPr wrap="square" rtlCol="0" anchor="t"/>
          <a:lstStyle/>
          <a:p>
            <a:pPr algn="l" indent="0" marL="0">
              <a:lnSpc>
                <a:spcPct val="142000"/>
              </a:lnSpc>
              <a:buNone/>
            </a:pPr>
            <a:r>
              <a:rPr lang="en-US" sz="3450" b="1" dirty="0">
                <a:solidFill>
                  <a:srgbClr val="1B1B18"/>
                </a:solidFill>
                <a:latin typeface="Songti TC" pitchFamily="34" charset="0"/>
                <a:ea typeface="Songti TC" pitchFamily="34" charset="-122"/>
                <a:cs typeface="Songti TC" pitchFamily="34" charset="-120"/>
              </a:rPr>
              <a:t>台灣少子化的根本原因，早已超越單純的『養不起』。真正的病灶，在於青年世代的『不婚』與『晚婚』。</a:t>
            </a:r>
            <a:endParaRPr lang="en-US" sz="3450" dirty="0"/>
          </a:p>
        </p:txBody>
      </p:sp>
      <p:sp>
        <p:nvSpPr>
          <p:cNvPr id="5" name="Shape 3"/>
          <p:cNvSpPr/>
          <p:nvPr/>
        </p:nvSpPr>
        <p:spPr>
          <a:xfrm>
            <a:off x="749808" y="5257800"/>
            <a:ext cx="365760" cy="27432"/>
          </a:xfrm>
          <a:prstGeom prst="rect">
            <a:avLst/>
          </a:prstGeom>
          <a:solidFill>
            <a:srgbClr val="B0562F"/>
          </a:solidFill>
          <a:ln/>
        </p:spPr>
      </p:sp>
      <p:sp>
        <p:nvSpPr>
          <p:cNvPr id="6" name="Text 4"/>
          <p:cNvSpPr/>
          <p:nvPr/>
        </p:nvSpPr>
        <p:spPr>
          <a:xfrm>
            <a:off x="749808" y="5394960"/>
            <a:ext cx="10874959" cy="457200"/>
          </a:xfrm>
          <a:prstGeom prst="rect">
            <a:avLst/>
          </a:prstGeom>
          <a:noFill/>
          <a:ln/>
        </p:spPr>
        <p:txBody>
          <a:bodyPr wrap="square" rtlCol="0" anchor="ctr"/>
          <a:lstStyle/>
          <a:p>
            <a:pPr indent="0" marL="0">
              <a:buNone/>
            </a:pPr>
            <a:r>
              <a:rPr lang="en-US" sz="1730" dirty="0">
                <a:solidFill>
                  <a:srgbClr val="6E6A62"/>
                </a:solidFill>
                <a:latin typeface="Heiti TC" pitchFamily="34" charset="0"/>
                <a:ea typeface="Heiti TC" pitchFamily="34" charset="-122"/>
                <a:cs typeface="Heiti TC" pitchFamily="34" charset="-120"/>
              </a:rPr>
              <a:t>薛承泰 博士　·　台大社會學系教授、前行政院政務委員、知名人口學專家</a:t>
            </a:r>
            <a:endParaRPr lang="en-US" sz="1730" dirty="0"/>
          </a:p>
        </p:txBody>
      </p:sp>
      <p:sp>
        <p:nvSpPr>
          <p:cNvPr id="7" name="Text 5"/>
          <p:cNvSpPr/>
          <p:nvPr/>
        </p:nvSpPr>
        <p:spPr>
          <a:xfrm>
            <a:off x="749808" y="5760720"/>
            <a:ext cx="10326319" cy="548640"/>
          </a:xfrm>
          <a:prstGeom prst="rect">
            <a:avLst/>
          </a:prstGeom>
          <a:noFill/>
          <a:ln/>
        </p:spPr>
        <p:txBody>
          <a:bodyPr wrap="square" rtlCol="0" anchor="ctr"/>
          <a:lstStyle/>
          <a:p>
            <a:pPr indent="0" marL="0">
              <a:buNone/>
            </a:pPr>
            <a:r>
              <a:rPr lang="en-US" sz="1610" i="1" dirty="0">
                <a:solidFill>
                  <a:srgbClr val="B0562F"/>
                </a:solidFill>
                <a:latin typeface="Heiti TC" pitchFamily="34" charset="0"/>
                <a:ea typeface="Heiti TC" pitchFamily="34" charset="-122"/>
                <a:cs typeface="Heiti TC" pitchFamily="34" charset="-120"/>
              </a:rPr>
              <a:t>打破「生不起」的迷思，看見真正的結構性斷層。</a:t>
            </a:r>
            <a:endParaRPr lang="en-US" sz="1610" dirty="0"/>
          </a:p>
        </p:txBody>
      </p:sp>
      <p:sp>
        <p:nvSpPr>
          <p:cNvPr id="8" name="Text 6"/>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9" name="Text 7"/>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19 / 30</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NotebookLM · 解析</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夾擊下的青年世代：形塑「不婚不育」的雙重阻力</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20 / 30</a:t>
            </a:r>
            <a:endParaRPr lang="en-US" sz="1150" dirty="0"/>
          </a:p>
        </p:txBody>
      </p:sp>
      <p:sp>
        <p:nvSpPr>
          <p:cNvPr id="7" name="Shape 5"/>
          <p:cNvSpPr/>
          <p:nvPr/>
        </p:nvSpPr>
        <p:spPr>
          <a:xfrm>
            <a:off x="658368" y="1993392"/>
            <a:ext cx="5163160" cy="3566160"/>
          </a:xfrm>
          <a:prstGeom prst="rect">
            <a:avLst>
              <a:gd name="adj" fmla="val 1538"/>
            </a:avLst>
          </a:prstGeom>
          <a:solidFill>
            <a:srgbClr val="F0E3DA"/>
          </a:solidFill>
          <a:ln w="12700">
            <a:solidFill>
              <a:srgbClr val="E4DED0"/>
            </a:solidFill>
            <a:prstDash val="solid"/>
          </a:ln>
        </p:spPr>
      </p:sp>
      <p:sp>
        <p:nvSpPr>
          <p:cNvPr id="8" name="Text 6"/>
          <p:cNvSpPr/>
          <p:nvPr/>
        </p:nvSpPr>
        <p:spPr>
          <a:xfrm>
            <a:off x="978408" y="2267712"/>
            <a:ext cx="4523080" cy="457200"/>
          </a:xfrm>
          <a:prstGeom prst="rect">
            <a:avLst/>
          </a:prstGeom>
          <a:noFill/>
          <a:ln/>
        </p:spPr>
        <p:txBody>
          <a:bodyPr wrap="square" rtlCol="0" anchor="ctr"/>
          <a:lstStyle/>
          <a:p>
            <a:pPr indent="0" marL="0">
              <a:buNone/>
            </a:pPr>
            <a:r>
              <a:rPr lang="en-US" sz="2530" b="1" dirty="0">
                <a:solidFill>
                  <a:srgbClr val="B0562F"/>
                </a:solidFill>
                <a:latin typeface="Songti TC" pitchFamily="34" charset="0"/>
                <a:ea typeface="Songti TC" pitchFamily="34" charset="-122"/>
                <a:cs typeface="Songti TC" pitchFamily="34" charset="-120"/>
              </a:rPr>
              <a:t>「推力」</a:t>
            </a:r>
            <a:endParaRPr lang="en-US" sz="2530" dirty="0"/>
          </a:p>
        </p:txBody>
      </p:sp>
      <p:sp>
        <p:nvSpPr>
          <p:cNvPr id="9" name="Text 7"/>
          <p:cNvSpPr/>
          <p:nvPr/>
        </p:nvSpPr>
        <p:spPr>
          <a:xfrm>
            <a:off x="978408" y="2770632"/>
            <a:ext cx="4523080" cy="320040"/>
          </a:xfrm>
          <a:prstGeom prst="rect">
            <a:avLst/>
          </a:prstGeom>
          <a:noFill/>
          <a:ln/>
        </p:spPr>
        <p:txBody>
          <a:bodyPr wrap="square" rtlCol="0" anchor="ctr"/>
          <a:lstStyle/>
          <a:p>
            <a:pPr indent="0" marL="0">
              <a:buNone/>
            </a:pPr>
            <a:r>
              <a:rPr lang="en-US" sz="1500" b="1" dirty="0">
                <a:solidFill>
                  <a:srgbClr val="6E6A62"/>
                </a:solidFill>
                <a:latin typeface="Heiti TC" pitchFamily="34" charset="0"/>
                <a:ea typeface="Heiti TC" pitchFamily="34" charset="-122"/>
                <a:cs typeface="Heiti TC" pitchFamily="34" charset="-120"/>
              </a:rPr>
              <a:t>環境壓力</a:t>
            </a:r>
            <a:endParaRPr lang="en-US" sz="1500" dirty="0"/>
          </a:p>
        </p:txBody>
      </p:sp>
      <p:sp>
        <p:nvSpPr>
          <p:cNvPr id="10" name="Text 8"/>
          <p:cNvSpPr/>
          <p:nvPr/>
        </p:nvSpPr>
        <p:spPr>
          <a:xfrm>
            <a:off x="978408" y="3182112"/>
            <a:ext cx="4523080" cy="2194560"/>
          </a:xfrm>
          <a:prstGeom prst="rect">
            <a:avLst/>
          </a:prstGeom>
          <a:noFill/>
          <a:ln/>
        </p:spPr>
        <p:txBody>
          <a:bodyPr wrap="square" rtlCol="0" anchor="t"/>
          <a:lstStyle/>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高房價</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低薪資成長</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職場與家庭失衡</a:t>
            </a:r>
            <a:endParaRPr lang="en-US" sz="1610" dirty="0"/>
          </a:p>
        </p:txBody>
      </p:sp>
      <p:sp>
        <p:nvSpPr>
          <p:cNvPr id="11" name="Shape 9"/>
          <p:cNvSpPr/>
          <p:nvPr/>
        </p:nvSpPr>
        <p:spPr>
          <a:xfrm>
            <a:off x="6370168" y="1993392"/>
            <a:ext cx="5163160" cy="3566160"/>
          </a:xfrm>
          <a:prstGeom prst="rect">
            <a:avLst>
              <a:gd name="adj" fmla="val 1538"/>
            </a:avLst>
          </a:prstGeom>
          <a:solidFill>
            <a:srgbClr val="E7EDE8"/>
          </a:solidFill>
          <a:ln w="12700">
            <a:solidFill>
              <a:srgbClr val="E4DED0"/>
            </a:solidFill>
            <a:prstDash val="solid"/>
          </a:ln>
        </p:spPr>
      </p:sp>
      <p:sp>
        <p:nvSpPr>
          <p:cNvPr id="12" name="Text 10"/>
          <p:cNvSpPr/>
          <p:nvPr/>
        </p:nvSpPr>
        <p:spPr>
          <a:xfrm>
            <a:off x="6690208" y="2267712"/>
            <a:ext cx="4523080" cy="457200"/>
          </a:xfrm>
          <a:prstGeom prst="rect">
            <a:avLst/>
          </a:prstGeom>
          <a:noFill/>
          <a:ln/>
        </p:spPr>
        <p:txBody>
          <a:bodyPr wrap="square" rtlCol="0" anchor="ctr"/>
          <a:lstStyle/>
          <a:p>
            <a:pPr indent="0" marL="0">
              <a:buNone/>
            </a:pPr>
            <a:r>
              <a:rPr lang="en-US" sz="2530" b="1" dirty="0">
                <a:solidFill>
                  <a:srgbClr val="0E4536"/>
                </a:solidFill>
                <a:latin typeface="Songti TC" pitchFamily="34" charset="0"/>
                <a:ea typeface="Songti TC" pitchFamily="34" charset="-122"/>
                <a:cs typeface="Songti TC" pitchFamily="34" charset="-120"/>
              </a:rPr>
              <a:t>「拉力」</a:t>
            </a:r>
            <a:endParaRPr lang="en-US" sz="2530" dirty="0"/>
          </a:p>
        </p:txBody>
      </p:sp>
      <p:sp>
        <p:nvSpPr>
          <p:cNvPr id="13" name="Text 11"/>
          <p:cNvSpPr/>
          <p:nvPr/>
        </p:nvSpPr>
        <p:spPr>
          <a:xfrm>
            <a:off x="6690208" y="2770632"/>
            <a:ext cx="4523080" cy="320040"/>
          </a:xfrm>
          <a:prstGeom prst="rect">
            <a:avLst/>
          </a:prstGeom>
          <a:noFill/>
          <a:ln/>
        </p:spPr>
        <p:txBody>
          <a:bodyPr wrap="square" rtlCol="0" anchor="ctr"/>
          <a:lstStyle/>
          <a:p>
            <a:pPr indent="0" marL="0">
              <a:buNone/>
            </a:pPr>
            <a:r>
              <a:rPr lang="en-US" sz="1500" b="1" dirty="0">
                <a:solidFill>
                  <a:srgbClr val="6E6A62"/>
                </a:solidFill>
                <a:latin typeface="Heiti TC" pitchFamily="34" charset="0"/>
                <a:ea typeface="Heiti TC" pitchFamily="34" charset="-122"/>
                <a:cs typeface="Heiti TC" pitchFamily="34" charset="-120"/>
              </a:rPr>
              <a:t>價值觀轉變</a:t>
            </a:r>
            <a:endParaRPr lang="en-US" sz="1500" dirty="0"/>
          </a:p>
        </p:txBody>
      </p:sp>
      <p:sp>
        <p:nvSpPr>
          <p:cNvPr id="14" name="Text 12"/>
          <p:cNvSpPr/>
          <p:nvPr/>
        </p:nvSpPr>
        <p:spPr>
          <a:xfrm>
            <a:off x="6690208" y="3182112"/>
            <a:ext cx="4523080" cy="2194560"/>
          </a:xfrm>
          <a:prstGeom prst="rect">
            <a:avLst/>
          </a:prstGeom>
          <a:noFill/>
          <a:ln/>
        </p:spPr>
        <p:txBody>
          <a:bodyPr wrap="square" rtlCol="0" anchor="t"/>
          <a:lstStyle/>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自我實現優先</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個人主義興起</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傳統婚姻框架的排斥</a:t>
            </a:r>
            <a:endParaRPr lang="en-US" sz="1610" dirty="0"/>
          </a:p>
        </p:txBody>
      </p:sp>
      <p:sp>
        <p:nvSpPr>
          <p:cNvPr id="15" name="Text 13"/>
          <p:cNvSpPr/>
          <p:nvPr/>
        </p:nvSpPr>
        <p:spPr>
          <a:xfrm>
            <a:off x="658368" y="5815584"/>
            <a:ext cx="10874959" cy="731520"/>
          </a:xfrm>
          <a:prstGeom prst="rect">
            <a:avLst/>
          </a:prstGeom>
          <a:noFill/>
          <a:ln/>
        </p:spPr>
        <p:txBody>
          <a:bodyPr wrap="square" rtlCol="0" anchor="t"/>
          <a:lstStyle/>
          <a:p>
            <a:pPr algn="ctr" indent="0" marL="0">
              <a:lnSpc>
                <a:spcPct val="135000"/>
              </a:lnSpc>
              <a:buNone/>
            </a:pPr>
            <a:r>
              <a:rPr lang="en-US" sz="1730" i="1" dirty="0">
                <a:solidFill>
                  <a:srgbClr val="1B1B18"/>
                </a:solidFill>
                <a:latin typeface="Heiti TC" pitchFamily="34" charset="0"/>
                <a:ea typeface="Heiti TC" pitchFamily="34" charset="-122"/>
                <a:cs typeface="Heiti TC" pitchFamily="34" charset="-120"/>
              </a:rPr>
              <a:t>年輕人並非單純「自私」，而是在極端的經濟推力與深刻的價值觀拉力雙重夾擊下，做出的理性避險選擇。</a:t>
            </a:r>
            <a:endParaRPr lang="en-US" sz="17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NotebookLM · 解析</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尋找流失點：問題不在「不生」，而是卡在「不婚」</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21 / 30</a:t>
            </a:r>
            <a:endParaRPr lang="en-US" sz="1150" dirty="0"/>
          </a:p>
        </p:txBody>
      </p:sp>
      <p:sp>
        <p:nvSpPr>
          <p:cNvPr id="7" name="Shape 5"/>
          <p:cNvSpPr/>
          <p:nvPr/>
        </p:nvSpPr>
        <p:spPr>
          <a:xfrm>
            <a:off x="658368" y="2039112"/>
            <a:ext cx="6766560" cy="566928"/>
          </a:xfrm>
          <a:prstGeom prst="rect">
            <a:avLst>
              <a:gd name="adj" fmla="val 4839"/>
            </a:avLst>
          </a:prstGeom>
          <a:solidFill>
            <a:srgbClr val="0E4536"/>
          </a:solidFill>
          <a:ln/>
        </p:spPr>
      </p:sp>
      <p:sp>
        <p:nvSpPr>
          <p:cNvPr id="8" name="Text 6"/>
          <p:cNvSpPr/>
          <p:nvPr/>
        </p:nvSpPr>
        <p:spPr>
          <a:xfrm>
            <a:off x="658368" y="2039112"/>
            <a:ext cx="6766560" cy="566928"/>
          </a:xfrm>
          <a:prstGeom prst="rect">
            <a:avLst/>
          </a:prstGeom>
          <a:noFill/>
          <a:ln/>
        </p:spPr>
        <p:txBody>
          <a:bodyPr wrap="square" rtlCol="0" anchor="ctr"/>
          <a:lstStyle/>
          <a:p>
            <a:pPr algn="ctr" indent="0" marL="0">
              <a:buNone/>
            </a:pPr>
            <a:r>
              <a:rPr lang="en-US" sz="1610" b="1" dirty="0">
                <a:solidFill>
                  <a:srgbClr val="F4F1E8"/>
                </a:solidFill>
                <a:latin typeface="Heiti TC" pitchFamily="34" charset="0"/>
                <a:ea typeface="Heiti TC" pitchFamily="34" charset="-122"/>
                <a:cs typeface="Heiti TC" pitchFamily="34" charset="-120"/>
              </a:rPr>
              <a:t>適婚年齡人口</a:t>
            </a:r>
            <a:endParaRPr lang="en-US" sz="1610" dirty="0"/>
          </a:p>
        </p:txBody>
      </p:sp>
      <p:sp>
        <p:nvSpPr>
          <p:cNvPr id="9" name="Shape 7"/>
          <p:cNvSpPr/>
          <p:nvPr/>
        </p:nvSpPr>
        <p:spPr>
          <a:xfrm>
            <a:off x="1161288" y="2734056"/>
            <a:ext cx="5760720" cy="566928"/>
          </a:xfrm>
          <a:prstGeom prst="rect">
            <a:avLst>
              <a:gd name="adj" fmla="val 4839"/>
            </a:avLst>
          </a:prstGeom>
          <a:solidFill>
            <a:srgbClr val="1C6249"/>
          </a:solidFill>
          <a:ln/>
        </p:spPr>
      </p:sp>
      <p:sp>
        <p:nvSpPr>
          <p:cNvPr id="10" name="Text 8"/>
          <p:cNvSpPr/>
          <p:nvPr/>
        </p:nvSpPr>
        <p:spPr>
          <a:xfrm>
            <a:off x="1161288" y="2734056"/>
            <a:ext cx="5760720" cy="566928"/>
          </a:xfrm>
          <a:prstGeom prst="rect">
            <a:avLst/>
          </a:prstGeom>
          <a:noFill/>
          <a:ln/>
        </p:spPr>
        <p:txBody>
          <a:bodyPr wrap="square" rtlCol="0" anchor="ctr"/>
          <a:lstStyle/>
          <a:p>
            <a:pPr algn="ctr" indent="0" marL="0">
              <a:buNone/>
            </a:pPr>
            <a:r>
              <a:rPr lang="en-US" sz="1610" b="1" dirty="0">
                <a:solidFill>
                  <a:srgbClr val="F4F1E8"/>
                </a:solidFill>
                <a:latin typeface="Heiti TC" pitchFamily="34" charset="0"/>
                <a:ea typeface="Heiti TC" pitchFamily="34" charset="-122"/>
                <a:cs typeface="Heiti TC" pitchFamily="34" charset="-120"/>
              </a:rPr>
              <a:t>具備結婚意願</a:t>
            </a:r>
            <a:endParaRPr lang="en-US" sz="1610" dirty="0"/>
          </a:p>
        </p:txBody>
      </p:sp>
      <p:sp>
        <p:nvSpPr>
          <p:cNvPr id="11" name="Shape 9"/>
          <p:cNvSpPr/>
          <p:nvPr/>
        </p:nvSpPr>
        <p:spPr>
          <a:xfrm>
            <a:off x="1664208" y="3429000"/>
            <a:ext cx="4754880" cy="566928"/>
          </a:xfrm>
          <a:prstGeom prst="rect">
            <a:avLst>
              <a:gd name="adj" fmla="val 4839"/>
            </a:avLst>
          </a:prstGeom>
          <a:solidFill>
            <a:srgbClr val="2E7358"/>
          </a:solidFill>
          <a:ln/>
        </p:spPr>
      </p:sp>
      <p:sp>
        <p:nvSpPr>
          <p:cNvPr id="12" name="Text 10"/>
          <p:cNvSpPr/>
          <p:nvPr/>
        </p:nvSpPr>
        <p:spPr>
          <a:xfrm>
            <a:off x="1664208" y="3429000"/>
            <a:ext cx="4754880" cy="566928"/>
          </a:xfrm>
          <a:prstGeom prst="rect">
            <a:avLst/>
          </a:prstGeom>
          <a:noFill/>
          <a:ln/>
        </p:spPr>
        <p:txBody>
          <a:bodyPr wrap="square" rtlCol="0" anchor="ctr"/>
          <a:lstStyle/>
          <a:p>
            <a:pPr algn="ctr" indent="0" marL="0">
              <a:buNone/>
            </a:pPr>
            <a:r>
              <a:rPr lang="en-US" sz="1610" b="1" dirty="0">
                <a:solidFill>
                  <a:srgbClr val="F4F1E8"/>
                </a:solidFill>
                <a:latin typeface="Heiti TC" pitchFamily="34" charset="0"/>
                <a:ea typeface="Heiti TC" pitchFamily="34" charset="-122"/>
                <a:cs typeface="Heiti TC" pitchFamily="34" charset="-120"/>
              </a:rPr>
              <a:t>選擇結婚</a:t>
            </a:r>
            <a:endParaRPr lang="en-US" sz="1610" dirty="0"/>
          </a:p>
        </p:txBody>
      </p:sp>
      <p:sp>
        <p:nvSpPr>
          <p:cNvPr id="13" name="Shape 11"/>
          <p:cNvSpPr/>
          <p:nvPr/>
        </p:nvSpPr>
        <p:spPr>
          <a:xfrm>
            <a:off x="2167128" y="4123944"/>
            <a:ext cx="3749040" cy="566928"/>
          </a:xfrm>
          <a:prstGeom prst="rect">
            <a:avLst>
              <a:gd name="adj" fmla="val 4839"/>
            </a:avLst>
          </a:prstGeom>
          <a:solidFill>
            <a:srgbClr val="5A8E77"/>
          </a:solidFill>
          <a:ln/>
        </p:spPr>
      </p:sp>
      <p:sp>
        <p:nvSpPr>
          <p:cNvPr id="14" name="Text 12"/>
          <p:cNvSpPr/>
          <p:nvPr/>
        </p:nvSpPr>
        <p:spPr>
          <a:xfrm>
            <a:off x="2167128" y="4123944"/>
            <a:ext cx="3749040" cy="566928"/>
          </a:xfrm>
          <a:prstGeom prst="rect">
            <a:avLst/>
          </a:prstGeom>
          <a:noFill/>
          <a:ln/>
        </p:spPr>
        <p:txBody>
          <a:bodyPr wrap="square" rtlCol="0" anchor="ctr"/>
          <a:lstStyle/>
          <a:p>
            <a:pPr algn="ctr" indent="0" marL="0">
              <a:buNone/>
            </a:pPr>
            <a:r>
              <a:rPr lang="en-US" sz="1610" b="1" dirty="0">
                <a:solidFill>
                  <a:srgbClr val="F4F1E8"/>
                </a:solidFill>
                <a:latin typeface="Heiti TC" pitchFamily="34" charset="0"/>
                <a:ea typeface="Heiti TC" pitchFamily="34" charset="-122"/>
                <a:cs typeface="Heiti TC" pitchFamily="34" charset="-120"/>
              </a:rPr>
              <a:t>生第一胎</a:t>
            </a:r>
            <a:endParaRPr lang="en-US" sz="1610" dirty="0"/>
          </a:p>
        </p:txBody>
      </p:sp>
      <p:sp>
        <p:nvSpPr>
          <p:cNvPr id="15" name="Shape 13"/>
          <p:cNvSpPr/>
          <p:nvPr/>
        </p:nvSpPr>
        <p:spPr>
          <a:xfrm>
            <a:off x="2670048" y="4818888"/>
            <a:ext cx="2743200" cy="566928"/>
          </a:xfrm>
          <a:prstGeom prst="rect">
            <a:avLst>
              <a:gd name="adj" fmla="val 4839"/>
            </a:avLst>
          </a:prstGeom>
          <a:solidFill>
            <a:srgbClr val="8FB3A2"/>
          </a:solidFill>
          <a:ln/>
        </p:spPr>
      </p:sp>
      <p:sp>
        <p:nvSpPr>
          <p:cNvPr id="16" name="Text 14"/>
          <p:cNvSpPr/>
          <p:nvPr/>
        </p:nvSpPr>
        <p:spPr>
          <a:xfrm>
            <a:off x="2670048" y="4818888"/>
            <a:ext cx="2743200" cy="566928"/>
          </a:xfrm>
          <a:prstGeom prst="rect">
            <a:avLst/>
          </a:prstGeom>
          <a:noFill/>
          <a:ln/>
        </p:spPr>
        <p:txBody>
          <a:bodyPr wrap="square" rtlCol="0" anchor="ctr"/>
          <a:lstStyle/>
          <a:p>
            <a:pPr algn="ctr" indent="0" marL="0">
              <a:buNone/>
            </a:pPr>
            <a:r>
              <a:rPr lang="en-US" sz="1610" b="1" dirty="0">
                <a:solidFill>
                  <a:srgbClr val="F4F1E8"/>
                </a:solidFill>
                <a:latin typeface="Heiti TC" pitchFamily="34" charset="0"/>
                <a:ea typeface="Heiti TC" pitchFamily="34" charset="-122"/>
                <a:cs typeface="Heiti TC" pitchFamily="34" charset="-120"/>
              </a:rPr>
              <a:t>生第二胎</a:t>
            </a:r>
            <a:endParaRPr lang="en-US" sz="1610" dirty="0"/>
          </a:p>
        </p:txBody>
      </p:sp>
      <p:sp>
        <p:nvSpPr>
          <p:cNvPr id="17" name="Shape 15"/>
          <p:cNvSpPr/>
          <p:nvPr/>
        </p:nvSpPr>
        <p:spPr>
          <a:xfrm>
            <a:off x="7973568" y="2953512"/>
            <a:ext cx="3559759" cy="2011680"/>
          </a:xfrm>
          <a:prstGeom prst="rect">
            <a:avLst>
              <a:gd name="adj" fmla="val 2727"/>
            </a:avLst>
          </a:prstGeom>
          <a:solidFill>
            <a:srgbClr val="F0E3DA"/>
          </a:solidFill>
          <a:ln w="12700">
            <a:solidFill>
              <a:srgbClr val="B0562F"/>
            </a:solidFill>
            <a:prstDash val="solid"/>
          </a:ln>
        </p:spPr>
      </p:sp>
      <p:sp>
        <p:nvSpPr>
          <p:cNvPr id="18" name="Text 16"/>
          <p:cNvSpPr/>
          <p:nvPr/>
        </p:nvSpPr>
        <p:spPr>
          <a:xfrm>
            <a:off x="8247888" y="3227832"/>
            <a:ext cx="3011119" cy="365760"/>
          </a:xfrm>
          <a:prstGeom prst="rect">
            <a:avLst/>
          </a:prstGeom>
          <a:noFill/>
          <a:ln/>
        </p:spPr>
        <p:txBody>
          <a:bodyPr wrap="square" rtlCol="0" anchor="ctr"/>
          <a:lstStyle/>
          <a:p>
            <a:pPr indent="0" marL="0">
              <a:buNone/>
            </a:pPr>
            <a:r>
              <a:rPr lang="en-US" sz="1500" b="1" dirty="0">
                <a:solidFill>
                  <a:srgbClr val="B0562F"/>
                </a:solidFill>
                <a:latin typeface="Heiti TC" pitchFamily="34" charset="0"/>
                <a:ea typeface="Heiti TC" pitchFamily="34" charset="-122"/>
                <a:cs typeface="Heiti TC" pitchFamily="34" charset="-120"/>
              </a:rPr>
              <a:t>最大流失區塊</a:t>
            </a:r>
            <a:endParaRPr lang="en-US" sz="1500" dirty="0"/>
          </a:p>
        </p:txBody>
      </p:sp>
      <p:sp>
        <p:nvSpPr>
          <p:cNvPr id="19" name="Text 17"/>
          <p:cNvSpPr/>
          <p:nvPr/>
        </p:nvSpPr>
        <p:spPr>
          <a:xfrm>
            <a:off x="8247888" y="3639312"/>
            <a:ext cx="3011119" cy="1097280"/>
          </a:xfrm>
          <a:prstGeom prst="rect">
            <a:avLst/>
          </a:prstGeom>
          <a:noFill/>
          <a:ln/>
        </p:spPr>
        <p:txBody>
          <a:bodyPr wrap="square" rtlCol="0" anchor="t"/>
          <a:lstStyle/>
          <a:p>
            <a:pPr indent="0" marL="0">
              <a:lnSpc>
                <a:spcPct val="120000"/>
              </a:lnSpc>
              <a:buNone/>
            </a:pPr>
            <a:r>
              <a:rPr lang="en-US" sz="2760" b="1" dirty="0">
                <a:solidFill>
                  <a:srgbClr val="B0562F"/>
                </a:solidFill>
                <a:latin typeface="Songti TC" pitchFamily="34" charset="0"/>
                <a:ea typeface="Songti TC" pitchFamily="34" charset="-122"/>
                <a:cs typeface="Songti TC" pitchFamily="34" charset="-120"/>
              </a:rPr>
              <a:t>不婚／晚婚族群</a:t>
            </a:r>
            <a:endParaRPr lang="en-US" sz="2760" dirty="0"/>
          </a:p>
        </p:txBody>
      </p:sp>
      <p:sp>
        <p:nvSpPr>
          <p:cNvPr id="20" name="Text 18"/>
          <p:cNvSpPr/>
          <p:nvPr/>
        </p:nvSpPr>
        <p:spPr>
          <a:xfrm>
            <a:off x="658368" y="5623560"/>
            <a:ext cx="10874959" cy="640080"/>
          </a:xfrm>
          <a:prstGeom prst="rect">
            <a:avLst/>
          </a:prstGeom>
          <a:noFill/>
          <a:ln/>
        </p:spPr>
        <p:txBody>
          <a:bodyPr wrap="square" rtlCol="0" anchor="t"/>
          <a:lstStyle/>
          <a:p>
            <a:pPr algn="l" indent="0" marL="0">
              <a:lnSpc>
                <a:spcPct val="140000"/>
              </a:lnSpc>
              <a:buNone/>
            </a:pPr>
            <a:r>
              <a:rPr lang="en-US" sz="1610" i="1" dirty="0">
                <a:solidFill>
                  <a:srgbClr val="6E6A62"/>
                </a:solidFill>
                <a:latin typeface="Heiti TC" pitchFamily="34" charset="0"/>
                <a:ea typeface="Heiti TC" pitchFamily="34" charset="-122"/>
                <a:cs typeface="Heiti TC" pitchFamily="34" charset="-120"/>
              </a:rPr>
              <a:t>數據顯示，一旦進入婚姻，台灣家庭的生育率並未如想像中低。漏斗真正的破洞，發生在進入婚姻之前。</a:t>
            </a:r>
            <a:endParaRPr lang="en-US" sz="161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NotebookLM · 解析</a:t>
            </a:r>
            <a:endParaRPr lang="en-US" sz="1380" dirty="0"/>
          </a:p>
        </p:txBody>
      </p:sp>
      <p:sp>
        <p:nvSpPr>
          <p:cNvPr id="3" name="Text 1"/>
          <p:cNvSpPr/>
          <p:nvPr/>
        </p:nvSpPr>
        <p:spPr>
          <a:xfrm>
            <a:off x="658368" y="950976"/>
            <a:ext cx="10874959" cy="868680"/>
          </a:xfrm>
          <a:prstGeom prst="rect">
            <a:avLst/>
          </a:prstGeom>
          <a:noFill/>
          <a:ln/>
        </p:spPr>
        <p:txBody>
          <a:bodyPr wrap="square" rtlCol="0" anchor="t"/>
          <a:lstStyle/>
          <a:p>
            <a:pPr algn="l" indent="0" marL="0">
              <a:lnSpc>
                <a:spcPct val="105000"/>
              </a:lnSpc>
              <a:buNone/>
            </a:pPr>
            <a:r>
              <a:rPr lang="en-US" sz="2870" b="1" dirty="0">
                <a:solidFill>
                  <a:srgbClr val="1B1B18"/>
                </a:solidFill>
                <a:latin typeface="Songti TC" pitchFamily="34" charset="0"/>
                <a:ea typeface="Songti TC" pitchFamily="34" charset="-122"/>
                <a:cs typeface="Songti TC" pitchFamily="34" charset="-120"/>
              </a:rPr>
              <a:t>政策靶心錯位：為何 3,800 億打不到痛點？</a:t>
            </a:r>
            <a:endParaRPr lang="en-US" sz="2870" dirty="0"/>
          </a:p>
        </p:txBody>
      </p:sp>
      <p:sp>
        <p:nvSpPr>
          <p:cNvPr id="4" name="Shape 2"/>
          <p:cNvSpPr/>
          <p:nvPr/>
        </p:nvSpPr>
        <p:spPr>
          <a:xfrm>
            <a:off x="658368" y="18745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22 / 30</a:t>
            </a:r>
            <a:endParaRPr lang="en-US" sz="1150" dirty="0"/>
          </a:p>
        </p:txBody>
      </p:sp>
      <p:sp>
        <p:nvSpPr>
          <p:cNvPr id="7" name="Text 5"/>
          <p:cNvSpPr/>
          <p:nvPr/>
        </p:nvSpPr>
        <p:spPr>
          <a:xfrm>
            <a:off x="2578608" y="2313432"/>
            <a:ext cx="2984906" cy="548640"/>
          </a:xfrm>
          <a:prstGeom prst="rect">
            <a:avLst/>
          </a:prstGeom>
          <a:noFill/>
          <a:ln/>
        </p:spPr>
        <p:txBody>
          <a:bodyPr wrap="square" rtlCol="0" anchor="ctr"/>
          <a:lstStyle/>
          <a:p>
            <a:pPr algn="ctr" indent="0" marL="0">
              <a:buNone/>
            </a:pPr>
            <a:r>
              <a:rPr lang="en-US" sz="1610" b="1" dirty="0">
                <a:solidFill>
                  <a:srgbClr val="0E4536"/>
                </a:solidFill>
                <a:latin typeface="Heiti TC" pitchFamily="34" charset="0"/>
                <a:ea typeface="Heiti TC" pitchFamily="34" charset="-122"/>
                <a:cs typeface="Heiti TC" pitchFamily="34" charset="-120"/>
              </a:rPr>
              <a:t>經濟補貼</a:t>
            </a:r>
            <a:endParaRPr lang="en-US" sz="1610" dirty="0"/>
          </a:p>
        </p:txBody>
      </p:sp>
      <p:sp>
        <p:nvSpPr>
          <p:cNvPr id="8" name="Text 6"/>
          <p:cNvSpPr/>
          <p:nvPr/>
        </p:nvSpPr>
        <p:spPr>
          <a:xfrm>
            <a:off x="5563514" y="2313432"/>
            <a:ext cx="2984906" cy="548640"/>
          </a:xfrm>
          <a:prstGeom prst="rect">
            <a:avLst/>
          </a:prstGeom>
          <a:noFill/>
          <a:ln/>
        </p:spPr>
        <p:txBody>
          <a:bodyPr wrap="square" rtlCol="0" anchor="ctr"/>
          <a:lstStyle/>
          <a:p>
            <a:pPr algn="ctr" indent="0" marL="0">
              <a:buNone/>
            </a:pPr>
            <a:r>
              <a:rPr lang="en-US" sz="1610" b="1" dirty="0">
                <a:solidFill>
                  <a:srgbClr val="0E4536"/>
                </a:solidFill>
                <a:latin typeface="Heiti TC" pitchFamily="34" charset="0"/>
                <a:ea typeface="Heiti TC" pitchFamily="34" charset="-122"/>
                <a:cs typeface="Heiti TC" pitchFamily="34" charset="-120"/>
              </a:rPr>
              <a:t>制度支持</a:t>
            </a:r>
            <a:endParaRPr lang="en-US" sz="1610" dirty="0"/>
          </a:p>
        </p:txBody>
      </p:sp>
      <p:sp>
        <p:nvSpPr>
          <p:cNvPr id="9" name="Text 7"/>
          <p:cNvSpPr/>
          <p:nvPr/>
        </p:nvSpPr>
        <p:spPr>
          <a:xfrm>
            <a:off x="8548421" y="2313432"/>
            <a:ext cx="2984906" cy="548640"/>
          </a:xfrm>
          <a:prstGeom prst="rect">
            <a:avLst/>
          </a:prstGeom>
          <a:noFill/>
          <a:ln/>
        </p:spPr>
        <p:txBody>
          <a:bodyPr wrap="square" rtlCol="0" anchor="ctr"/>
          <a:lstStyle/>
          <a:p>
            <a:pPr algn="ctr" indent="0" marL="0">
              <a:buNone/>
            </a:pPr>
            <a:r>
              <a:rPr lang="en-US" sz="1610" b="1" dirty="0">
                <a:solidFill>
                  <a:srgbClr val="0E4536"/>
                </a:solidFill>
                <a:latin typeface="Heiti TC" pitchFamily="34" charset="0"/>
                <a:ea typeface="Heiti TC" pitchFamily="34" charset="-122"/>
                <a:cs typeface="Heiti TC" pitchFamily="34" charset="-120"/>
              </a:rPr>
              <a:t>社會價值觀轉變</a:t>
            </a:r>
            <a:endParaRPr lang="en-US" sz="1610" dirty="0"/>
          </a:p>
        </p:txBody>
      </p:sp>
      <p:sp>
        <p:nvSpPr>
          <p:cNvPr id="10" name="Text 8"/>
          <p:cNvSpPr/>
          <p:nvPr/>
        </p:nvSpPr>
        <p:spPr>
          <a:xfrm>
            <a:off x="658368" y="2862072"/>
            <a:ext cx="1828800" cy="1325880"/>
          </a:xfrm>
          <a:prstGeom prst="rect">
            <a:avLst/>
          </a:prstGeom>
          <a:noFill/>
          <a:ln/>
        </p:spPr>
        <p:txBody>
          <a:bodyPr wrap="square" rtlCol="0" anchor="ctr"/>
          <a:lstStyle/>
          <a:p>
            <a:pPr algn="l" indent="0" marL="0">
              <a:lnSpc>
                <a:spcPct val="120000"/>
              </a:lnSpc>
              <a:buNone/>
            </a:pPr>
            <a:r>
              <a:rPr lang="en-US" sz="1550" b="1" dirty="0">
                <a:solidFill>
                  <a:srgbClr val="1B1B18"/>
                </a:solidFill>
                <a:latin typeface="Heiti TC" pitchFamily="34" charset="0"/>
                <a:ea typeface="Heiti TC" pitchFamily="34" charset="-122"/>
                <a:cs typeface="Heiti TC" pitchFamily="34" charset="-120"/>
              </a:rPr>
              <a:t>未婚／猶豫期</a:t>
            </a:r>
            <a:endParaRPr lang="en-US" sz="1550" dirty="0"/>
          </a:p>
        </p:txBody>
      </p:sp>
      <p:sp>
        <p:nvSpPr>
          <p:cNvPr id="11" name="Shape 9"/>
          <p:cNvSpPr/>
          <p:nvPr/>
        </p:nvSpPr>
        <p:spPr>
          <a:xfrm>
            <a:off x="2633472" y="2916936"/>
            <a:ext cx="2875178" cy="1216152"/>
          </a:xfrm>
          <a:prstGeom prst="rect">
            <a:avLst>
              <a:gd name="adj" fmla="val 3759"/>
            </a:avLst>
          </a:prstGeom>
          <a:solidFill>
            <a:srgbClr val="FFFFFF"/>
          </a:solidFill>
          <a:ln w="12700">
            <a:solidFill>
              <a:srgbClr val="E4DED0"/>
            </a:solidFill>
            <a:prstDash val="solid"/>
          </a:ln>
        </p:spPr>
      </p:sp>
      <p:sp>
        <p:nvSpPr>
          <p:cNvPr id="12" name="Shape 10"/>
          <p:cNvSpPr/>
          <p:nvPr/>
        </p:nvSpPr>
        <p:spPr>
          <a:xfrm>
            <a:off x="5618378" y="2916936"/>
            <a:ext cx="2875178" cy="1216152"/>
          </a:xfrm>
          <a:prstGeom prst="rect">
            <a:avLst>
              <a:gd name="adj" fmla="val 3759"/>
            </a:avLst>
          </a:prstGeom>
          <a:solidFill>
            <a:srgbClr val="E7EDE8"/>
          </a:solidFill>
          <a:ln w="19050">
            <a:solidFill>
              <a:srgbClr val="0E4536"/>
            </a:solidFill>
            <a:prstDash val="solid"/>
          </a:ln>
        </p:spPr>
      </p:sp>
      <p:sp>
        <p:nvSpPr>
          <p:cNvPr id="13" name="Text 11"/>
          <p:cNvSpPr/>
          <p:nvPr/>
        </p:nvSpPr>
        <p:spPr>
          <a:xfrm>
            <a:off x="5728106" y="2971800"/>
            <a:ext cx="2655722" cy="1106424"/>
          </a:xfrm>
          <a:prstGeom prst="rect">
            <a:avLst/>
          </a:prstGeom>
          <a:noFill/>
          <a:ln/>
        </p:spPr>
        <p:txBody>
          <a:bodyPr wrap="square" rtlCol="0" anchor="ctr"/>
          <a:lstStyle/>
          <a:p>
            <a:pPr algn="ctr" indent="0" marL="0">
              <a:lnSpc>
                <a:spcPct val="120000"/>
              </a:lnSpc>
              <a:buNone/>
            </a:pPr>
            <a:r>
              <a:rPr lang="en-US" sz="1380" b="1" dirty="0">
                <a:solidFill>
                  <a:srgbClr val="0E4536"/>
                </a:solidFill>
                <a:latin typeface="Heiti TC" pitchFamily="34" charset="0"/>
                <a:ea typeface="Heiti TC" pitchFamily="34" charset="-122"/>
                <a:cs typeface="Heiti TC" pitchFamily="34" charset="-120"/>
              </a:rPr>
              <a:t>根本病灶</a:t>
            </a:r>
            <a:endParaRPr lang="en-US" sz="1380" dirty="0"/>
          </a:p>
        </p:txBody>
      </p:sp>
      <p:sp>
        <p:nvSpPr>
          <p:cNvPr id="14" name="Shape 12"/>
          <p:cNvSpPr/>
          <p:nvPr/>
        </p:nvSpPr>
        <p:spPr>
          <a:xfrm>
            <a:off x="8603285" y="2916936"/>
            <a:ext cx="2875178" cy="1216152"/>
          </a:xfrm>
          <a:prstGeom prst="rect">
            <a:avLst>
              <a:gd name="adj" fmla="val 3759"/>
            </a:avLst>
          </a:prstGeom>
          <a:solidFill>
            <a:srgbClr val="E7EDE8"/>
          </a:solidFill>
          <a:ln w="19050">
            <a:solidFill>
              <a:srgbClr val="0E4536"/>
            </a:solidFill>
            <a:prstDash val="solid"/>
          </a:ln>
        </p:spPr>
      </p:sp>
      <p:sp>
        <p:nvSpPr>
          <p:cNvPr id="15" name="Text 13"/>
          <p:cNvSpPr/>
          <p:nvPr/>
        </p:nvSpPr>
        <p:spPr>
          <a:xfrm>
            <a:off x="8713013" y="2971800"/>
            <a:ext cx="2655722" cy="1106424"/>
          </a:xfrm>
          <a:prstGeom prst="rect">
            <a:avLst/>
          </a:prstGeom>
          <a:noFill/>
          <a:ln/>
        </p:spPr>
        <p:txBody>
          <a:bodyPr wrap="square" rtlCol="0" anchor="ctr"/>
          <a:lstStyle/>
          <a:p>
            <a:pPr algn="ctr" indent="0" marL="0">
              <a:lnSpc>
                <a:spcPct val="120000"/>
              </a:lnSpc>
              <a:buNone/>
            </a:pPr>
            <a:r>
              <a:rPr lang="en-US" sz="1380" b="1" dirty="0">
                <a:solidFill>
                  <a:srgbClr val="0E4536"/>
                </a:solidFill>
                <a:latin typeface="Heiti TC" pitchFamily="34" charset="0"/>
                <a:ea typeface="Heiti TC" pitchFamily="34" charset="-122"/>
                <a:cs typeface="Heiti TC" pitchFamily="34" charset="-120"/>
              </a:rPr>
              <a:t>根本病灶</a:t>
            </a:r>
            <a:endParaRPr lang="en-US" sz="1380" dirty="0"/>
          </a:p>
        </p:txBody>
      </p:sp>
      <p:sp>
        <p:nvSpPr>
          <p:cNvPr id="16" name="Text 14"/>
          <p:cNvSpPr/>
          <p:nvPr/>
        </p:nvSpPr>
        <p:spPr>
          <a:xfrm>
            <a:off x="658368" y="4187952"/>
            <a:ext cx="1828800" cy="1325880"/>
          </a:xfrm>
          <a:prstGeom prst="rect">
            <a:avLst/>
          </a:prstGeom>
          <a:noFill/>
          <a:ln/>
        </p:spPr>
        <p:txBody>
          <a:bodyPr wrap="square" rtlCol="0" anchor="ctr"/>
          <a:lstStyle/>
          <a:p>
            <a:pPr algn="l" indent="0" marL="0">
              <a:lnSpc>
                <a:spcPct val="120000"/>
              </a:lnSpc>
              <a:buNone/>
            </a:pPr>
            <a:r>
              <a:rPr lang="en-US" sz="1550" b="1" dirty="0">
                <a:solidFill>
                  <a:srgbClr val="1B1B18"/>
                </a:solidFill>
                <a:latin typeface="Heiti TC" pitchFamily="34" charset="0"/>
                <a:ea typeface="Heiti TC" pitchFamily="34" charset="-122"/>
                <a:cs typeface="Heiti TC" pitchFamily="34" charset="-120"/>
              </a:rPr>
              <a:t>已婚／已育</a:t>
            </a:r>
            <a:endParaRPr lang="en-US" sz="1550" dirty="0"/>
          </a:p>
        </p:txBody>
      </p:sp>
      <p:sp>
        <p:nvSpPr>
          <p:cNvPr id="17" name="Shape 15"/>
          <p:cNvSpPr/>
          <p:nvPr/>
        </p:nvSpPr>
        <p:spPr>
          <a:xfrm>
            <a:off x="2633472" y="4242816"/>
            <a:ext cx="2875178" cy="1216152"/>
          </a:xfrm>
          <a:prstGeom prst="rect">
            <a:avLst>
              <a:gd name="adj" fmla="val 3759"/>
            </a:avLst>
          </a:prstGeom>
          <a:solidFill>
            <a:srgbClr val="F0E3DA"/>
          </a:solidFill>
          <a:ln w="19050">
            <a:solidFill>
              <a:srgbClr val="B0562F"/>
            </a:solidFill>
            <a:prstDash val="solid"/>
          </a:ln>
        </p:spPr>
      </p:sp>
      <p:sp>
        <p:nvSpPr>
          <p:cNvPr id="18" name="Text 16"/>
          <p:cNvSpPr/>
          <p:nvPr/>
        </p:nvSpPr>
        <p:spPr>
          <a:xfrm>
            <a:off x="2743200" y="4297680"/>
            <a:ext cx="2655722" cy="1106424"/>
          </a:xfrm>
          <a:prstGeom prst="rect">
            <a:avLst/>
          </a:prstGeom>
          <a:noFill/>
          <a:ln/>
        </p:spPr>
        <p:txBody>
          <a:bodyPr wrap="square" rtlCol="0" anchor="ctr"/>
          <a:lstStyle/>
          <a:p>
            <a:pPr algn="ctr" indent="0" marL="0">
              <a:lnSpc>
                <a:spcPct val="120000"/>
              </a:lnSpc>
              <a:buNone/>
            </a:pPr>
            <a:r>
              <a:rPr lang="en-US" sz="1380" b="1" dirty="0">
                <a:solidFill>
                  <a:srgbClr val="B0562F"/>
                </a:solidFill>
                <a:latin typeface="Heiti TC" pitchFamily="34" charset="0"/>
                <a:ea typeface="Heiti TC" pitchFamily="34" charset="-122"/>
                <a:cs typeface="Heiti TC" pitchFamily="34" charset="-120"/>
              </a:rPr>
              <a:t>政府 3,800 億</a:t>
            </a:r>
            <a:endParaRPr lang="en-US" sz="1380" dirty="0"/>
          </a:p>
          <a:p>
            <a:pPr algn="ctr" indent="0" marL="0">
              <a:lnSpc>
                <a:spcPct val="120000"/>
              </a:lnSpc>
              <a:buNone/>
            </a:pPr>
            <a:r>
              <a:rPr lang="en-US" sz="1380" b="1" dirty="0">
                <a:solidFill>
                  <a:srgbClr val="B0562F"/>
                </a:solidFill>
                <a:latin typeface="Heiti TC" pitchFamily="34" charset="0"/>
                <a:ea typeface="Heiti TC" pitchFamily="34" charset="-122"/>
                <a:cs typeface="Heiti TC" pitchFamily="34" charset="-120"/>
              </a:rPr>
              <a:t>政策重心</a:t>
            </a:r>
            <a:endParaRPr lang="en-US" sz="1380" dirty="0"/>
          </a:p>
        </p:txBody>
      </p:sp>
      <p:sp>
        <p:nvSpPr>
          <p:cNvPr id="19" name="Shape 17"/>
          <p:cNvSpPr/>
          <p:nvPr/>
        </p:nvSpPr>
        <p:spPr>
          <a:xfrm>
            <a:off x="5618378" y="4242816"/>
            <a:ext cx="2875178" cy="1216152"/>
          </a:xfrm>
          <a:prstGeom prst="rect">
            <a:avLst>
              <a:gd name="adj" fmla="val 3759"/>
            </a:avLst>
          </a:prstGeom>
          <a:solidFill>
            <a:srgbClr val="FFFFFF"/>
          </a:solidFill>
          <a:ln w="12700">
            <a:solidFill>
              <a:srgbClr val="E4DED0"/>
            </a:solidFill>
            <a:prstDash val="solid"/>
          </a:ln>
        </p:spPr>
      </p:sp>
      <p:sp>
        <p:nvSpPr>
          <p:cNvPr id="20" name="Shape 18"/>
          <p:cNvSpPr/>
          <p:nvPr/>
        </p:nvSpPr>
        <p:spPr>
          <a:xfrm>
            <a:off x="8603285" y="4242816"/>
            <a:ext cx="2875178" cy="1216152"/>
          </a:xfrm>
          <a:prstGeom prst="rect">
            <a:avLst>
              <a:gd name="adj" fmla="val 3759"/>
            </a:avLst>
          </a:prstGeom>
          <a:solidFill>
            <a:srgbClr val="FFFFFF"/>
          </a:solidFill>
          <a:ln w="12700">
            <a:solidFill>
              <a:srgbClr val="E4DED0"/>
            </a:solidFill>
            <a:prstDash val="solid"/>
          </a:ln>
        </p:spPr>
      </p:sp>
      <p:sp>
        <p:nvSpPr>
          <p:cNvPr id="21" name="Text 19"/>
          <p:cNvSpPr/>
          <p:nvPr/>
        </p:nvSpPr>
        <p:spPr>
          <a:xfrm>
            <a:off x="658368" y="5696712"/>
            <a:ext cx="10874959" cy="640080"/>
          </a:xfrm>
          <a:prstGeom prst="rect">
            <a:avLst/>
          </a:prstGeom>
          <a:noFill/>
          <a:ln/>
        </p:spPr>
        <p:txBody>
          <a:bodyPr wrap="square" rtlCol="0" anchor="t"/>
          <a:lstStyle/>
          <a:p>
            <a:pPr indent="0" marL="0">
              <a:lnSpc>
                <a:spcPct val="135000"/>
              </a:lnSpc>
              <a:buNone/>
            </a:pPr>
            <a:r>
              <a:rPr lang="en-US" sz="1550" i="1" dirty="0">
                <a:solidFill>
                  <a:srgbClr val="1B1B18"/>
                </a:solidFill>
                <a:latin typeface="Heiti TC" pitchFamily="34" charset="0"/>
                <a:ea typeface="Heiti TC" pitchFamily="34" charset="-122"/>
                <a:cs typeface="Heiti TC" pitchFamily="34" charset="-120"/>
              </a:rPr>
              <a:t>薛承泰博士的診斷：資源高度集中於「已婚者的經濟補貼」（橙），真正病灶卻在「未婚者的制度與文化困境」（綠）——政策靶心完美錯位。</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回到現場</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220" b="1" dirty="0">
                <a:solidFill>
                  <a:srgbClr val="1B1B18"/>
                </a:solidFill>
                <a:latin typeface="Songti TC" pitchFamily="34" charset="0"/>
                <a:ea typeface="Songti TC" pitchFamily="34" charset="-122"/>
                <a:cs typeface="Songti TC" pitchFamily="34" charset="-120"/>
              </a:rPr>
              <a:t>當前無法迴避的挑戰</a:t>
            </a:r>
            <a:endParaRPr lang="en-US" sz="322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23 / 30</a:t>
            </a:r>
            <a:endParaRPr lang="en-US" sz="1150" dirty="0"/>
          </a:p>
        </p:txBody>
      </p:sp>
      <p:sp>
        <p:nvSpPr>
          <p:cNvPr id="7" name="Text 5"/>
          <p:cNvSpPr/>
          <p:nvPr/>
        </p:nvSpPr>
        <p:spPr>
          <a:xfrm>
            <a:off x="704088" y="1947672"/>
            <a:ext cx="10829239" cy="548640"/>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學校招生不足</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 老師失業、校地荒廢。</a:t>
            </a:r>
            <a:endParaRPr lang="en-US" sz="1780" dirty="0"/>
          </a:p>
        </p:txBody>
      </p:sp>
      <p:sp>
        <p:nvSpPr>
          <p:cNvPr id="8" name="Text 6"/>
          <p:cNvSpPr/>
          <p:nvPr/>
        </p:nvSpPr>
        <p:spPr>
          <a:xfrm>
            <a:off x="704088" y="2660904"/>
            <a:ext cx="10829239" cy="548640"/>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加速高齡化</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 年金財務危機與醫療照顧加重。</a:t>
            </a:r>
            <a:endParaRPr lang="en-US" sz="1780" dirty="0"/>
          </a:p>
        </p:txBody>
      </p:sp>
      <p:sp>
        <p:nvSpPr>
          <p:cNvPr id="9" name="Text 7"/>
          <p:cNvSpPr/>
          <p:nvPr/>
        </p:nvSpPr>
        <p:spPr>
          <a:xfrm>
            <a:off x="704088" y="3374136"/>
            <a:ext cx="10829239" cy="548640"/>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勞動力老化與減少</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 經濟衰退、稅收減少。</a:t>
            </a:r>
            <a:endParaRPr lang="en-US" sz="1780" dirty="0"/>
          </a:p>
        </p:txBody>
      </p:sp>
      <p:sp>
        <p:nvSpPr>
          <p:cNvPr id="10" name="Text 8"/>
          <p:cNvSpPr/>
          <p:nvPr/>
        </p:nvSpPr>
        <p:spPr>
          <a:xfrm>
            <a:off x="704088" y="4087368"/>
            <a:ext cx="10829239" cy="548640"/>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人口負成長加速</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 市場緊縮、鄉村衰敗。</a:t>
            </a:r>
            <a:endParaRPr lang="en-US" sz="1780" dirty="0"/>
          </a:p>
        </p:txBody>
      </p:sp>
      <p:sp>
        <p:nvSpPr>
          <p:cNvPr id="11" name="Text 9"/>
          <p:cNvSpPr/>
          <p:nvPr/>
        </p:nvSpPr>
        <p:spPr>
          <a:xfrm>
            <a:off x="704088" y="4800600"/>
            <a:ext cx="10829239" cy="548640"/>
          </a:xfrm>
          <a:prstGeom prst="rect">
            <a:avLst/>
          </a:prstGeom>
          <a:noFill/>
          <a:ln/>
        </p:spPr>
        <p:txBody>
          <a:bodyPr wrap="square" rtlCol="0" anchor="t"/>
          <a:lstStyle/>
          <a:p>
            <a:pPr algn="l" indent="0" marL="0">
              <a:lnSpc>
                <a:spcPct val="132000"/>
              </a:lnSpc>
              <a:buNone/>
            </a:pPr>
            <a:r>
              <a:rPr lang="en-US" sz="1780" b="1" dirty="0">
                <a:solidFill>
                  <a:srgbClr val="1B1B18"/>
                </a:solidFill>
                <a:latin typeface="Heiti TC" pitchFamily="34" charset="0"/>
                <a:ea typeface="Heiti TC" pitchFamily="34" charset="-122"/>
                <a:cs typeface="Heiti TC" pitchFamily="34" charset="-120"/>
              </a:rPr>
              <a:t>年輕人不足</a:t>
            </a:r>
            <a:pPr algn="l" indent="0" marL="0">
              <a:lnSpc>
                <a:spcPct val="132000"/>
              </a:lnSpc>
              <a:buNone/>
            </a:pPr>
            <a:r>
              <a:rPr lang="en-US" sz="1780" dirty="0">
                <a:solidFill>
                  <a:srgbClr val="6E6A62"/>
                </a:solidFill>
                <a:latin typeface="Heiti TC" pitchFamily="34" charset="0"/>
                <a:ea typeface="Heiti TC" pitchFamily="34" charset="-122"/>
                <a:cs typeface="Heiti TC" pitchFamily="34" charset="-120"/>
              </a:rPr>
              <a:t>　→ 兵源匱乏，需發展新國防。</a:t>
            </a:r>
            <a:endParaRPr lang="en-US" sz="1780" dirty="0"/>
          </a:p>
        </p:txBody>
      </p:sp>
      <p:sp>
        <p:nvSpPr>
          <p:cNvPr id="12" name="Text 10"/>
          <p:cNvSpPr/>
          <p:nvPr/>
        </p:nvSpPr>
        <p:spPr>
          <a:xfrm>
            <a:off x="658368" y="5623560"/>
            <a:ext cx="10874959" cy="685800"/>
          </a:xfrm>
          <a:prstGeom prst="rect">
            <a:avLst/>
          </a:prstGeom>
          <a:noFill/>
          <a:ln/>
        </p:spPr>
        <p:txBody>
          <a:bodyPr wrap="square" rtlCol="0" anchor="t"/>
          <a:lstStyle/>
          <a:p>
            <a:pPr algn="l" indent="0" marL="0">
              <a:lnSpc>
                <a:spcPct val="135000"/>
              </a:lnSpc>
              <a:buNone/>
            </a:pPr>
            <a:r>
              <a:rPr lang="en-US" sz="1550" i="1" dirty="0">
                <a:solidFill>
                  <a:srgbClr val="6E6A62"/>
                </a:solidFill>
                <a:latin typeface="Heiti TC" pitchFamily="34" charset="0"/>
                <a:ea typeface="Heiti TC" pitchFamily="34" charset="-122"/>
                <a:cs typeface="Heiti TC" pitchFamily="34" charset="-120"/>
              </a:rPr>
              <a:t>新科技可以協助克服這些危機嗎？</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延伸思考 · AI</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110" b="1" dirty="0">
                <a:solidFill>
                  <a:srgbClr val="1B1B18"/>
                </a:solidFill>
                <a:latin typeface="Songti TC" pitchFamily="34" charset="0"/>
                <a:ea typeface="Songti TC" pitchFamily="34" charset="-122"/>
                <a:cs typeface="Songti TC" pitchFamily="34" charset="-120"/>
              </a:rPr>
              <a:t>當 AI 超越人類，我們想要的是什麼？</a:t>
            </a:r>
            <a:endParaRPr lang="en-US" sz="311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24 / 30</a:t>
            </a:r>
            <a:endParaRPr lang="en-US" sz="1150" dirty="0"/>
          </a:p>
        </p:txBody>
      </p:sp>
      <p:sp>
        <p:nvSpPr>
          <p:cNvPr id="7" name="Shape 5"/>
          <p:cNvSpPr/>
          <p:nvPr/>
        </p:nvSpPr>
        <p:spPr>
          <a:xfrm>
            <a:off x="658368" y="1993392"/>
            <a:ext cx="5163160" cy="3566160"/>
          </a:xfrm>
          <a:prstGeom prst="rect">
            <a:avLst>
              <a:gd name="adj" fmla="val 1538"/>
            </a:avLst>
          </a:prstGeom>
          <a:solidFill>
            <a:srgbClr val="F0E3DA"/>
          </a:solidFill>
          <a:ln w="12700">
            <a:solidFill>
              <a:srgbClr val="E4DED0"/>
            </a:solidFill>
            <a:prstDash val="solid"/>
          </a:ln>
        </p:spPr>
      </p:sp>
      <p:sp>
        <p:nvSpPr>
          <p:cNvPr id="8" name="Text 6"/>
          <p:cNvSpPr/>
          <p:nvPr/>
        </p:nvSpPr>
        <p:spPr>
          <a:xfrm>
            <a:off x="978408" y="2267712"/>
            <a:ext cx="4523080" cy="457200"/>
          </a:xfrm>
          <a:prstGeom prst="rect">
            <a:avLst/>
          </a:prstGeom>
          <a:noFill/>
          <a:ln/>
        </p:spPr>
        <p:txBody>
          <a:bodyPr wrap="square" rtlCol="0" anchor="ctr"/>
          <a:lstStyle/>
          <a:p>
            <a:pPr indent="0" marL="0">
              <a:buNone/>
            </a:pPr>
            <a:r>
              <a:rPr lang="en-US" sz="2530" b="1" dirty="0">
                <a:solidFill>
                  <a:srgbClr val="B0562F"/>
                </a:solidFill>
                <a:latin typeface="Songti TC" pitchFamily="34" charset="0"/>
                <a:ea typeface="Songti TC" pitchFamily="34" charset="-122"/>
                <a:cs typeface="Songti TC" pitchFamily="34" charset="-120"/>
              </a:rPr>
              <a:t>AI 超越人類</a:t>
            </a:r>
            <a:endParaRPr lang="en-US" sz="2530" dirty="0"/>
          </a:p>
        </p:txBody>
      </p:sp>
      <p:sp>
        <p:nvSpPr>
          <p:cNvPr id="9" name="Text 7"/>
          <p:cNvSpPr/>
          <p:nvPr/>
        </p:nvSpPr>
        <p:spPr>
          <a:xfrm>
            <a:off x="978408" y="2770632"/>
            <a:ext cx="4523080" cy="320040"/>
          </a:xfrm>
          <a:prstGeom prst="rect">
            <a:avLst/>
          </a:prstGeom>
          <a:noFill/>
          <a:ln/>
        </p:spPr>
        <p:txBody>
          <a:bodyPr wrap="square" rtlCol="0" anchor="ctr"/>
          <a:lstStyle/>
          <a:p>
            <a:pPr indent="0" marL="0">
              <a:buNone/>
            </a:pPr>
            <a:r>
              <a:rPr lang="en-US" sz="1500" b="1" dirty="0">
                <a:solidFill>
                  <a:srgbClr val="6E6A62"/>
                </a:solidFill>
                <a:latin typeface="Heiti TC" pitchFamily="34" charset="0"/>
                <a:ea typeface="Heiti TC" pitchFamily="34" charset="-122"/>
                <a:cs typeface="Heiti TC" pitchFamily="34" charset="-120"/>
              </a:rPr>
              <a:t>三項超越</a:t>
            </a:r>
            <a:endParaRPr lang="en-US" sz="1500" dirty="0"/>
          </a:p>
        </p:txBody>
      </p:sp>
      <p:sp>
        <p:nvSpPr>
          <p:cNvPr id="10" name="Text 8"/>
          <p:cNvSpPr/>
          <p:nvPr/>
        </p:nvSpPr>
        <p:spPr>
          <a:xfrm>
            <a:off x="978408" y="3182112"/>
            <a:ext cx="4523080" cy="2194560"/>
          </a:xfrm>
          <a:prstGeom prst="rect">
            <a:avLst/>
          </a:prstGeom>
          <a:noFill/>
          <a:ln/>
        </p:spPr>
        <p:txBody>
          <a:bodyPr wrap="square" rtlCol="0" anchor="t"/>
          <a:lstStyle/>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資料儲存超越人類的記憶</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演算速度超越人類的智力</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自我學習能力超越人類的惰性</a:t>
            </a:r>
            <a:endParaRPr lang="en-US" sz="1610" dirty="0"/>
          </a:p>
        </p:txBody>
      </p:sp>
      <p:sp>
        <p:nvSpPr>
          <p:cNvPr id="11" name="Shape 9"/>
          <p:cNvSpPr/>
          <p:nvPr/>
        </p:nvSpPr>
        <p:spPr>
          <a:xfrm>
            <a:off x="6370168" y="1993392"/>
            <a:ext cx="5163160" cy="3566160"/>
          </a:xfrm>
          <a:prstGeom prst="rect">
            <a:avLst>
              <a:gd name="adj" fmla="val 1538"/>
            </a:avLst>
          </a:prstGeom>
          <a:solidFill>
            <a:srgbClr val="E7EDE8"/>
          </a:solidFill>
          <a:ln w="12700">
            <a:solidFill>
              <a:srgbClr val="E4DED0"/>
            </a:solidFill>
            <a:prstDash val="solid"/>
          </a:ln>
        </p:spPr>
      </p:sp>
      <p:sp>
        <p:nvSpPr>
          <p:cNvPr id="12" name="Text 10"/>
          <p:cNvSpPr/>
          <p:nvPr/>
        </p:nvSpPr>
        <p:spPr>
          <a:xfrm>
            <a:off x="6690208" y="2267712"/>
            <a:ext cx="4523080" cy="457200"/>
          </a:xfrm>
          <a:prstGeom prst="rect">
            <a:avLst/>
          </a:prstGeom>
          <a:noFill/>
          <a:ln/>
        </p:spPr>
        <p:txBody>
          <a:bodyPr wrap="square" rtlCol="0" anchor="ctr"/>
          <a:lstStyle/>
          <a:p>
            <a:pPr indent="0" marL="0">
              <a:buNone/>
            </a:pPr>
            <a:r>
              <a:rPr lang="en-US" sz="2530" b="1" dirty="0">
                <a:solidFill>
                  <a:srgbClr val="0E4536"/>
                </a:solidFill>
                <a:latin typeface="Songti TC" pitchFamily="34" charset="0"/>
                <a:ea typeface="Songti TC" pitchFamily="34" charset="-122"/>
                <a:cs typeface="Songti TC" pitchFamily="34" charset="-120"/>
              </a:rPr>
              <a:t>但多數人類想要</a:t>
            </a:r>
            <a:endParaRPr lang="en-US" sz="2530" dirty="0"/>
          </a:p>
        </p:txBody>
      </p:sp>
      <p:sp>
        <p:nvSpPr>
          <p:cNvPr id="13" name="Text 11"/>
          <p:cNvSpPr/>
          <p:nvPr/>
        </p:nvSpPr>
        <p:spPr>
          <a:xfrm>
            <a:off x="6690208" y="2770632"/>
            <a:ext cx="4523080" cy="320040"/>
          </a:xfrm>
          <a:prstGeom prst="rect">
            <a:avLst/>
          </a:prstGeom>
          <a:noFill/>
          <a:ln/>
        </p:spPr>
        <p:txBody>
          <a:bodyPr wrap="square" rtlCol="0" anchor="ctr"/>
          <a:lstStyle/>
          <a:p>
            <a:pPr indent="0" marL="0">
              <a:buNone/>
            </a:pPr>
            <a:r>
              <a:rPr lang="en-US" sz="1500" b="1" dirty="0">
                <a:solidFill>
                  <a:srgbClr val="6E6A62"/>
                </a:solidFill>
                <a:latin typeface="Heiti TC" pitchFamily="34" charset="0"/>
                <a:ea typeface="Heiti TC" pitchFamily="34" charset="-122"/>
                <a:cs typeface="Heiti TC" pitchFamily="34" charset="-120"/>
              </a:rPr>
              <a:t>五種期待</a:t>
            </a:r>
            <a:endParaRPr lang="en-US" sz="1500" dirty="0"/>
          </a:p>
        </p:txBody>
      </p:sp>
      <p:sp>
        <p:nvSpPr>
          <p:cNvPr id="14" name="Text 12"/>
          <p:cNvSpPr/>
          <p:nvPr/>
        </p:nvSpPr>
        <p:spPr>
          <a:xfrm>
            <a:off x="6690208" y="3182112"/>
            <a:ext cx="4523080" cy="2194560"/>
          </a:xfrm>
          <a:prstGeom prst="rect">
            <a:avLst/>
          </a:prstGeom>
          <a:noFill/>
          <a:ln/>
        </p:spPr>
        <p:txBody>
          <a:bodyPr wrap="square" rtlCol="0" anchor="t"/>
          <a:lstStyle/>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不會頂嘴的助理（伴侶）</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不會大小便的寵物</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不會虐待家人的管家</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幫企業家賺錢的聽話工人</a:t>
            </a:r>
            <a:endParaRPr lang="en-US" sz="1610" dirty="0"/>
          </a:p>
          <a:p>
            <a:pPr marL="177800" indent="-177800">
              <a:lnSpc>
                <a:spcPct val="140000"/>
              </a:lnSpc>
              <a:spcAft>
                <a:spcPts val="400"/>
              </a:spcAft>
              <a:buSzPct val="100000"/>
              <a:buChar char="•"/>
            </a:pPr>
            <a:r>
              <a:rPr lang="en-US" sz="1610" dirty="0">
                <a:solidFill>
                  <a:srgbClr val="38352E"/>
                </a:solidFill>
                <a:latin typeface="Heiti TC" pitchFamily="34" charset="0"/>
                <a:ea typeface="Heiti TC" pitchFamily="34" charset="-122"/>
                <a:cs typeface="Heiti TC" pitchFamily="34" charset="-120"/>
              </a:rPr>
              <a:t>幫政客打仗不會流血的士兵</a:t>
            </a:r>
            <a:endParaRPr lang="en-US" sz="1610" dirty="0"/>
          </a:p>
        </p:txBody>
      </p:sp>
      <p:sp>
        <p:nvSpPr>
          <p:cNvPr id="15" name="Text 13"/>
          <p:cNvSpPr/>
          <p:nvPr/>
        </p:nvSpPr>
        <p:spPr>
          <a:xfrm>
            <a:off x="658368" y="5815584"/>
            <a:ext cx="10874959" cy="731520"/>
          </a:xfrm>
          <a:prstGeom prst="rect">
            <a:avLst/>
          </a:prstGeom>
          <a:noFill/>
          <a:ln/>
        </p:spPr>
        <p:txBody>
          <a:bodyPr wrap="square" rtlCol="0" anchor="t"/>
          <a:lstStyle/>
          <a:p>
            <a:pPr algn="ctr" indent="0" marL="0">
              <a:lnSpc>
                <a:spcPct val="135000"/>
              </a:lnSpc>
              <a:buNone/>
            </a:pPr>
            <a:r>
              <a:rPr lang="en-US" sz="1730" i="1" dirty="0">
                <a:solidFill>
                  <a:srgbClr val="1B1B18"/>
                </a:solidFill>
                <a:latin typeface="Heiti TC" pitchFamily="34" charset="0"/>
                <a:ea typeface="Heiti TC" pitchFamily="34" charset="-122"/>
                <a:cs typeface="Heiti TC" pitchFamily="34" charset="-120"/>
              </a:rPr>
              <a:t>年輕人手機使用時間，與婚育率呈反比嗎？</a:t>
            </a:r>
            <a:endParaRPr lang="en-US" sz="17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4536"/>
        </a:solidFill>
      </p:bgPr>
    </p:bg>
    <p:spTree>
      <p:nvGrpSpPr>
        <p:cNvPr id="1" name=""/>
        <p:cNvGrpSpPr/>
        <p:nvPr/>
      </p:nvGrpSpPr>
      <p:grpSpPr>
        <a:xfrm>
          <a:off x="0" y="0"/>
          <a:ext cx="0" cy="0"/>
          <a:chOff x="0" y="0"/>
          <a:chExt cx="0" cy="0"/>
        </a:xfrm>
      </p:grpSpPr>
      <p:sp>
        <p:nvSpPr>
          <p:cNvPr id="2" name="Shape 0"/>
          <p:cNvSpPr/>
          <p:nvPr/>
        </p:nvSpPr>
        <p:spPr>
          <a:xfrm rot="1080000">
            <a:off x="9814255" y="-822960"/>
            <a:ext cx="1645920" cy="1645920"/>
          </a:xfrm>
          <a:prstGeom prst="rect">
            <a:avLst/>
          </a:prstGeom>
          <a:ln w="12700">
            <a:solidFill>
              <a:srgbClr val="23604B"/>
            </a:solidFill>
            <a:prstDash val="solid"/>
          </a:ln>
        </p:spPr>
      </p:sp>
      <p:sp>
        <p:nvSpPr>
          <p:cNvPr id="3" name="Text 1"/>
          <p:cNvSpPr/>
          <p:nvPr/>
        </p:nvSpPr>
        <p:spPr>
          <a:xfrm>
            <a:off x="658368" y="2651760"/>
            <a:ext cx="10874959" cy="274320"/>
          </a:xfrm>
          <a:prstGeom prst="rect">
            <a:avLst/>
          </a:prstGeom>
          <a:noFill/>
          <a:ln/>
        </p:spPr>
        <p:txBody>
          <a:bodyPr wrap="square" rtlCol="0" anchor="ctr"/>
          <a:lstStyle/>
          <a:p>
            <a:pPr indent="0" marL="0">
              <a:buNone/>
            </a:pPr>
            <a:r>
              <a:rPr lang="en-US" sz="1500" b="1" spc="400" kern="0" dirty="0">
                <a:solidFill>
                  <a:srgbClr val="8FB3A2"/>
                </a:solidFill>
                <a:latin typeface="Georgia" pitchFamily="34" charset="0"/>
                <a:ea typeface="Georgia" pitchFamily="34" charset="-122"/>
                <a:cs typeface="Georgia" pitchFamily="34" charset="-120"/>
              </a:rPr>
              <a:t>SECTION</a:t>
            </a:r>
            <a:endParaRPr lang="en-US" sz="1500" dirty="0"/>
          </a:p>
        </p:txBody>
      </p:sp>
      <p:sp>
        <p:nvSpPr>
          <p:cNvPr id="4" name="Text 2"/>
          <p:cNvSpPr/>
          <p:nvPr/>
        </p:nvSpPr>
        <p:spPr>
          <a:xfrm>
            <a:off x="658368" y="3017520"/>
            <a:ext cx="10874959" cy="1280160"/>
          </a:xfrm>
          <a:prstGeom prst="rect">
            <a:avLst/>
          </a:prstGeom>
          <a:noFill/>
          <a:ln/>
        </p:spPr>
        <p:txBody>
          <a:bodyPr wrap="square" rtlCol="0" anchor="t"/>
          <a:lstStyle/>
          <a:p>
            <a:pPr algn="l" indent="0" marL="0">
              <a:lnSpc>
                <a:spcPct val="110000"/>
              </a:lnSpc>
              <a:buNone/>
            </a:pPr>
            <a:r>
              <a:rPr lang="en-US" sz="4600" b="1" dirty="0">
                <a:solidFill>
                  <a:srgbClr val="F4F1E8"/>
                </a:solidFill>
                <a:latin typeface="Songti TC" pitchFamily="34" charset="0"/>
                <a:ea typeface="Songti TC" pitchFamily="34" charset="-122"/>
                <a:cs typeface="Songti TC" pitchFamily="34" charset="-120"/>
              </a:rPr>
              <a:t>台灣少子高齡化：衝擊、解析、因應</a:t>
            </a:r>
            <a:endParaRPr lang="en-US" sz="4600" dirty="0"/>
          </a:p>
        </p:txBody>
      </p:sp>
      <p:sp>
        <p:nvSpPr>
          <p:cNvPr id="5" name="Text 3"/>
          <p:cNvSpPr/>
          <p:nvPr/>
        </p:nvSpPr>
        <p:spPr>
          <a:xfrm>
            <a:off x="658368" y="4343400"/>
            <a:ext cx="10874959" cy="457200"/>
          </a:xfrm>
          <a:prstGeom prst="rect">
            <a:avLst/>
          </a:prstGeom>
          <a:noFill/>
          <a:ln/>
        </p:spPr>
        <p:txBody>
          <a:bodyPr wrap="square" rtlCol="0" anchor="ctr"/>
          <a:lstStyle/>
          <a:p>
            <a:pPr indent="0" marL="0">
              <a:buNone/>
            </a:pPr>
            <a:r>
              <a:rPr lang="en-US" sz="1840" dirty="0">
                <a:solidFill>
                  <a:srgbClr val="C7D6CC"/>
                </a:solidFill>
                <a:latin typeface="Heiti TC" pitchFamily="34" charset="0"/>
                <a:ea typeface="Heiti TC" pitchFamily="34" charset="-122"/>
                <a:cs typeface="Heiti TC" pitchFamily="34" charset="-120"/>
              </a:rPr>
              <a:t>從人口學、經濟與觀念三個面向，解析根本原因。</a:t>
            </a:r>
            <a:endParaRPr lang="en-US" sz="1840" dirty="0"/>
          </a:p>
        </p:txBody>
      </p:sp>
      <p:sp>
        <p:nvSpPr>
          <p:cNvPr id="6" name="Shape 4"/>
          <p:cNvSpPr/>
          <p:nvPr/>
        </p:nvSpPr>
        <p:spPr>
          <a:xfrm>
            <a:off x="658368" y="4206240"/>
            <a:ext cx="1005840" cy="27432"/>
          </a:xfrm>
          <a:prstGeom prst="rect">
            <a:avLst/>
          </a:prstGeom>
          <a:solidFill>
            <a:srgbClr val="B0562F"/>
          </a:solidFill>
          <a:ln/>
        </p:spPr>
      </p:sp>
      <p:sp>
        <p:nvSpPr>
          <p:cNvPr id="7" name="Text 5"/>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9DB4A8"/>
                </a:solidFill>
                <a:latin typeface="Heiti TC" pitchFamily="34" charset="0"/>
                <a:ea typeface="Heiti TC" pitchFamily="34" charset="-122"/>
                <a:cs typeface="Heiti TC" pitchFamily="34" charset="-120"/>
              </a:rPr>
              <a:t>薛承泰</a:t>
            </a:r>
            <a:pPr algn="l" indent="0" marL="0">
              <a:buNone/>
            </a:pPr>
            <a:r>
              <a:rPr lang="en-US" sz="1040" dirty="0">
                <a:solidFill>
                  <a:srgbClr val="9DB4A8"/>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8" name="Text 6"/>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9DB4A8"/>
                </a:solidFill>
                <a:latin typeface="Georgia" pitchFamily="34" charset="0"/>
                <a:ea typeface="Georgia" pitchFamily="34" charset="-122"/>
                <a:cs typeface="Georgia" pitchFamily="34" charset="-120"/>
              </a:rPr>
              <a:t>25 / 30</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解析 · 一</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450" b="1" dirty="0">
                <a:solidFill>
                  <a:srgbClr val="1B1B18"/>
                </a:solidFill>
                <a:latin typeface="Songti TC" pitchFamily="34" charset="0"/>
                <a:ea typeface="Songti TC" pitchFamily="34" charset="-122"/>
                <a:cs typeface="Songti TC" pitchFamily="34" charset="-120"/>
              </a:rPr>
              <a:t>人口學因素</a:t>
            </a:r>
            <a:endParaRPr lang="en-US" sz="345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26 / 30</a:t>
            </a:r>
            <a:endParaRPr lang="en-US" sz="1150" dirty="0"/>
          </a:p>
        </p:txBody>
      </p:sp>
      <p:sp>
        <p:nvSpPr>
          <p:cNvPr id="7" name="Text 5"/>
          <p:cNvSpPr/>
          <p:nvPr/>
        </p:nvSpPr>
        <p:spPr>
          <a:xfrm>
            <a:off x="704088" y="1947672"/>
            <a:ext cx="10829239" cy="861822"/>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結婚率下降</a:t>
            </a:r>
            <a:pPr algn="l" indent="0" marL="0">
              <a:lnSpc>
                <a:spcPct val="132000"/>
              </a:lnSpc>
              <a:buNone/>
            </a:pPr>
            <a:r>
              <a:rPr lang="en-US" sz="1950" dirty="0">
                <a:solidFill>
                  <a:srgbClr val="6E6A62"/>
                </a:solidFill>
                <a:latin typeface="Heiti TC" pitchFamily="34" charset="0"/>
                <a:ea typeface="Heiti TC" pitchFamily="34" charset="-122"/>
                <a:cs typeface="Heiti TC" pitchFamily="34" charset="-120"/>
              </a:rPr>
              <a:t>　與晚婚、不婚現象並存。</a:t>
            </a:r>
            <a:endParaRPr lang="en-US" sz="1950" dirty="0"/>
          </a:p>
        </p:txBody>
      </p:sp>
      <p:sp>
        <p:nvSpPr>
          <p:cNvPr id="8" name="Text 6"/>
          <p:cNvSpPr/>
          <p:nvPr/>
        </p:nvSpPr>
        <p:spPr>
          <a:xfrm>
            <a:off x="704088" y="3083814"/>
            <a:ext cx="10829239" cy="861822"/>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晚婚推遲第一胎</a:t>
            </a:r>
            <a:pPr algn="l" indent="0" marL="0">
              <a:lnSpc>
                <a:spcPct val="132000"/>
              </a:lnSpc>
              <a:buNone/>
            </a:pPr>
            <a:r>
              <a:rPr lang="en-US" sz="1950" dirty="0">
                <a:solidFill>
                  <a:srgbClr val="6E6A62"/>
                </a:solidFill>
                <a:latin typeface="Heiti TC" pitchFamily="34" charset="0"/>
                <a:ea typeface="Heiti TC" pitchFamily="34" charset="-122"/>
                <a:cs typeface="Heiti TC" pitchFamily="34" charset="-120"/>
              </a:rPr>
              <a:t>　造成生育第一胎時間延後，導致生第二胎的機會減少。</a:t>
            </a:r>
            <a:endParaRPr lang="en-US" sz="1950" dirty="0"/>
          </a:p>
        </p:txBody>
      </p:sp>
      <p:sp>
        <p:nvSpPr>
          <p:cNvPr id="9" name="Text 7"/>
          <p:cNvSpPr/>
          <p:nvPr/>
        </p:nvSpPr>
        <p:spPr>
          <a:xfrm>
            <a:off x="704088" y="4219956"/>
            <a:ext cx="10829239" cy="861822"/>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離婚率偏高</a:t>
            </a:r>
            <a:pPr algn="l" indent="0" marL="0">
              <a:lnSpc>
                <a:spcPct val="132000"/>
              </a:lnSpc>
              <a:buNone/>
            </a:pPr>
            <a:r>
              <a:rPr lang="en-US" sz="1950" dirty="0">
                <a:solidFill>
                  <a:srgbClr val="6E6A62"/>
                </a:solidFill>
                <a:latin typeface="Heiti TC" pitchFamily="34" charset="0"/>
                <a:ea typeface="Heiti TC" pitchFamily="34" charset="-122"/>
                <a:cs typeface="Heiti TC" pitchFamily="34" charset="-120"/>
              </a:rPr>
              <a:t>　經營幸福家庭不容易。</a:t>
            </a:r>
            <a:endParaRPr lang="en-US" sz="1950" dirty="0"/>
          </a:p>
        </p:txBody>
      </p:sp>
      <p:sp>
        <p:nvSpPr>
          <p:cNvPr id="10" name="Text 8"/>
          <p:cNvSpPr/>
          <p:nvPr/>
        </p:nvSpPr>
        <p:spPr>
          <a:xfrm>
            <a:off x="704088" y="5356098"/>
            <a:ext cx="10829239" cy="861822"/>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育齡人口數減少</a:t>
            </a:r>
            <a:pPr algn="l" indent="0" marL="0">
              <a:lnSpc>
                <a:spcPct val="132000"/>
              </a:lnSpc>
              <a:buNone/>
            </a:pPr>
            <a:r>
              <a:rPr lang="en-US" sz="1950" dirty="0">
                <a:solidFill>
                  <a:srgbClr val="6E6A62"/>
                </a:solidFill>
                <a:latin typeface="Heiti TC" pitchFamily="34" charset="0"/>
                <a:ea typeface="Heiti TC" pitchFamily="34" charset="-122"/>
                <a:cs typeface="Heiti TC" pitchFamily="34" charset="-120"/>
              </a:rPr>
              <a:t>　即使生育率不變，生育量也會下滑。</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解析 · 二</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450" b="1" dirty="0">
                <a:solidFill>
                  <a:srgbClr val="1B1B18"/>
                </a:solidFill>
                <a:latin typeface="Songti TC" pitchFamily="34" charset="0"/>
                <a:ea typeface="Songti TC" pitchFamily="34" charset="-122"/>
                <a:cs typeface="Songti TC" pitchFamily="34" charset="-120"/>
              </a:rPr>
              <a:t>經濟因素</a:t>
            </a:r>
            <a:endParaRPr lang="en-US" sz="345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27 / 30</a:t>
            </a:r>
            <a:endParaRPr lang="en-US" sz="1150" dirty="0"/>
          </a:p>
        </p:txBody>
      </p:sp>
      <p:sp>
        <p:nvSpPr>
          <p:cNvPr id="7" name="Text 5"/>
          <p:cNvSpPr/>
          <p:nvPr/>
        </p:nvSpPr>
        <p:spPr>
          <a:xfrm>
            <a:off x="704088" y="1947672"/>
            <a:ext cx="10829239" cy="672084"/>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年輕人薪資偏低</a:t>
            </a:r>
            <a:pPr algn="l" indent="0" marL="0">
              <a:lnSpc>
                <a:spcPct val="132000"/>
              </a:lnSpc>
              <a:buNone/>
            </a:pPr>
            <a:r>
              <a:rPr lang="en-US" sz="1950" dirty="0">
                <a:solidFill>
                  <a:srgbClr val="6E6A62"/>
                </a:solidFill>
                <a:latin typeface="Heiti TC" pitchFamily="34" charset="0"/>
                <a:ea typeface="Heiti TC" pitchFamily="34" charset="-122"/>
                <a:cs typeface="Heiti TC" pitchFamily="34" charset="-120"/>
              </a:rPr>
              <a:t>　近年通膨速度快，經濟壓力上升。</a:t>
            </a:r>
            <a:endParaRPr lang="en-US" sz="1950" dirty="0"/>
          </a:p>
        </p:txBody>
      </p:sp>
      <p:sp>
        <p:nvSpPr>
          <p:cNvPr id="8" name="Text 6"/>
          <p:cNvSpPr/>
          <p:nvPr/>
        </p:nvSpPr>
        <p:spPr>
          <a:xfrm>
            <a:off x="704088" y="2857500"/>
            <a:ext cx="10829239" cy="672084"/>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房價相對薪資偏高</a:t>
            </a:r>
            <a:pPr algn="l" indent="0" marL="0">
              <a:lnSpc>
                <a:spcPct val="132000"/>
              </a:lnSpc>
              <a:buNone/>
            </a:pPr>
            <a:r>
              <a:rPr lang="en-US" sz="1950" dirty="0">
                <a:solidFill>
                  <a:srgbClr val="6E6A62"/>
                </a:solidFill>
                <a:latin typeface="Heiti TC" pitchFamily="34" charset="0"/>
                <a:ea typeface="Heiti TC" pitchFamily="34" charset="-122"/>
                <a:cs typeface="Heiti TC" pitchFamily="34" charset="-120"/>
              </a:rPr>
              <a:t>　都會地區並產生追價困境。</a:t>
            </a:r>
            <a:endParaRPr lang="en-US" sz="1950" dirty="0"/>
          </a:p>
        </p:txBody>
      </p:sp>
      <p:sp>
        <p:nvSpPr>
          <p:cNvPr id="9" name="Text 7"/>
          <p:cNvSpPr/>
          <p:nvPr/>
        </p:nvSpPr>
        <p:spPr>
          <a:xfrm>
            <a:off x="704088" y="3767328"/>
            <a:ext cx="10829239" cy="672084"/>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生養育子女成本持續上升</a:t>
            </a:r>
            <a:endParaRPr lang="en-US" sz="1950" dirty="0"/>
          </a:p>
        </p:txBody>
      </p:sp>
      <p:sp>
        <p:nvSpPr>
          <p:cNvPr id="10" name="Text 8"/>
          <p:cNvSpPr/>
          <p:nvPr/>
        </p:nvSpPr>
        <p:spPr>
          <a:xfrm>
            <a:off x="704088" y="4677156"/>
            <a:ext cx="10829239" cy="672084"/>
          </a:xfrm>
          <a:prstGeom prst="rect">
            <a:avLst/>
          </a:prstGeom>
          <a:noFill/>
          <a:ln/>
        </p:spPr>
        <p:txBody>
          <a:bodyPr wrap="square" rtlCol="0" anchor="t"/>
          <a:lstStyle/>
          <a:p>
            <a:pPr algn="l" indent="0" marL="0">
              <a:lnSpc>
                <a:spcPct val="132000"/>
              </a:lnSpc>
              <a:buNone/>
            </a:pPr>
            <a:r>
              <a:rPr lang="en-US" sz="1950" b="1" dirty="0">
                <a:solidFill>
                  <a:srgbClr val="1B1B18"/>
                </a:solidFill>
                <a:latin typeface="Heiti TC" pitchFamily="34" charset="0"/>
                <a:ea typeface="Heiti TC" pitchFamily="34" charset="-122"/>
                <a:cs typeface="Heiti TC" pitchFamily="34" charset="-120"/>
              </a:rPr>
              <a:t>生活環境欠佳</a:t>
            </a:r>
            <a:pPr algn="l" indent="0" marL="0">
              <a:lnSpc>
                <a:spcPct val="132000"/>
              </a:lnSpc>
              <a:buNone/>
            </a:pPr>
            <a:r>
              <a:rPr lang="en-US" sz="1950" dirty="0">
                <a:solidFill>
                  <a:srgbClr val="6E6A62"/>
                </a:solidFill>
                <a:latin typeface="Heiti TC" pitchFamily="34" charset="0"/>
                <a:ea typeface="Heiti TC" pitchFamily="34" charset="-122"/>
                <a:cs typeface="Heiti TC" pitchFamily="34" charset="-120"/>
              </a:rPr>
              <a:t>　急需社區改造——友善與安全。</a:t>
            </a:r>
            <a:endParaRPr lang="en-US" sz="1950" dirty="0"/>
          </a:p>
        </p:txBody>
      </p:sp>
      <p:sp>
        <p:nvSpPr>
          <p:cNvPr id="11" name="Text 9"/>
          <p:cNvSpPr/>
          <p:nvPr/>
        </p:nvSpPr>
        <p:spPr>
          <a:xfrm>
            <a:off x="658368" y="5623560"/>
            <a:ext cx="10874959" cy="685800"/>
          </a:xfrm>
          <a:prstGeom prst="rect">
            <a:avLst/>
          </a:prstGeom>
          <a:noFill/>
          <a:ln/>
        </p:spPr>
        <p:txBody>
          <a:bodyPr wrap="square" rtlCol="0" anchor="t"/>
          <a:lstStyle/>
          <a:p>
            <a:pPr algn="l" indent="0" marL="0">
              <a:lnSpc>
                <a:spcPct val="135000"/>
              </a:lnSpc>
              <a:buNone/>
            </a:pPr>
            <a:r>
              <a:rPr lang="en-US" sz="1550" i="1" dirty="0">
                <a:solidFill>
                  <a:srgbClr val="6E6A62"/>
                </a:solidFill>
                <a:latin typeface="Heiti TC" pitchFamily="34" charset="0"/>
                <a:ea typeface="Heiti TC" pitchFamily="34" charset="-122"/>
                <a:cs typeface="Heiti TC" pitchFamily="34" charset="-120"/>
              </a:rPr>
              <a:t>「台灣人口對策新戰略」針對經濟因素會有幫助。</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解析 · 三</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450" b="1" dirty="0">
                <a:solidFill>
                  <a:srgbClr val="1B1B18"/>
                </a:solidFill>
                <a:latin typeface="Songti TC" pitchFamily="34" charset="0"/>
                <a:ea typeface="Songti TC" pitchFamily="34" charset="-122"/>
                <a:cs typeface="Songti TC" pitchFamily="34" charset="-120"/>
              </a:rPr>
              <a:t>觀念因素</a:t>
            </a:r>
            <a:endParaRPr lang="en-US" sz="345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28 / 30</a:t>
            </a:r>
            <a:endParaRPr lang="en-US" sz="1150" dirty="0"/>
          </a:p>
        </p:txBody>
      </p:sp>
      <p:sp>
        <p:nvSpPr>
          <p:cNvPr id="7" name="Text 5"/>
          <p:cNvSpPr/>
          <p:nvPr/>
        </p:nvSpPr>
        <p:spPr>
          <a:xfrm>
            <a:off x="704088" y="1947672"/>
            <a:ext cx="10829239" cy="707746"/>
          </a:xfrm>
          <a:prstGeom prst="rect">
            <a:avLst/>
          </a:prstGeom>
          <a:noFill/>
          <a:ln/>
        </p:spPr>
        <p:txBody>
          <a:bodyPr wrap="square" rtlCol="0" anchor="t"/>
          <a:lstStyle/>
          <a:p>
            <a:pPr algn="l" indent="0" marL="0">
              <a:lnSpc>
                <a:spcPct val="132000"/>
              </a:lnSpc>
              <a:buNone/>
            </a:pPr>
            <a:r>
              <a:rPr lang="en-US" sz="1840" b="1" dirty="0">
                <a:solidFill>
                  <a:srgbClr val="1B1B18"/>
                </a:solidFill>
                <a:latin typeface="Heiti TC" pitchFamily="34" charset="0"/>
                <a:ea typeface="Heiti TC" pitchFamily="34" charset="-122"/>
                <a:cs typeface="Heiti TC" pitchFamily="34" charset="-120"/>
              </a:rPr>
              <a:t>個人主義與消費主義盛行</a:t>
            </a:r>
            <a:pPr algn="l" indent="0" marL="0">
              <a:lnSpc>
                <a:spcPct val="132000"/>
              </a:lnSpc>
              <a:buNone/>
            </a:pPr>
            <a:r>
              <a:rPr lang="en-US" sz="1840" dirty="0">
                <a:solidFill>
                  <a:srgbClr val="6E6A62"/>
                </a:solidFill>
                <a:latin typeface="Heiti TC" pitchFamily="34" charset="0"/>
                <a:ea typeface="Heiti TC" pitchFamily="34" charset="-122"/>
                <a:cs typeface="Heiti TC" pitchFamily="34" charset="-120"/>
              </a:rPr>
              <a:t>　儲蓄觀念式微。</a:t>
            </a:r>
            <a:endParaRPr lang="en-US" sz="1840" dirty="0"/>
          </a:p>
        </p:txBody>
      </p:sp>
      <p:sp>
        <p:nvSpPr>
          <p:cNvPr id="8" name="Text 6"/>
          <p:cNvSpPr/>
          <p:nvPr/>
        </p:nvSpPr>
        <p:spPr>
          <a:xfrm>
            <a:off x="704088" y="2838298"/>
            <a:ext cx="10829239" cy="707746"/>
          </a:xfrm>
          <a:prstGeom prst="rect">
            <a:avLst/>
          </a:prstGeom>
          <a:noFill/>
          <a:ln/>
        </p:spPr>
        <p:txBody>
          <a:bodyPr wrap="square" rtlCol="0" anchor="t"/>
          <a:lstStyle/>
          <a:p>
            <a:pPr algn="l" indent="0" marL="0">
              <a:lnSpc>
                <a:spcPct val="132000"/>
              </a:lnSpc>
              <a:buNone/>
            </a:pPr>
            <a:r>
              <a:rPr lang="en-US" sz="1840" b="1" dirty="0">
                <a:solidFill>
                  <a:srgbClr val="1B1B18"/>
                </a:solidFill>
                <a:latin typeface="Heiti TC" pitchFamily="34" charset="0"/>
                <a:ea typeface="Heiti TC" pitchFamily="34" charset="-122"/>
                <a:cs typeface="Heiti TC" pitchFamily="34" charset="-120"/>
              </a:rPr>
              <a:t>年輕人對未來不確定性高。</a:t>
            </a:r>
            <a:endParaRPr lang="en-US" sz="1840" dirty="0"/>
          </a:p>
        </p:txBody>
      </p:sp>
      <p:sp>
        <p:nvSpPr>
          <p:cNvPr id="9" name="Text 7"/>
          <p:cNvSpPr/>
          <p:nvPr/>
        </p:nvSpPr>
        <p:spPr>
          <a:xfrm>
            <a:off x="704088" y="3728923"/>
            <a:ext cx="10829239" cy="707746"/>
          </a:xfrm>
          <a:prstGeom prst="rect">
            <a:avLst/>
          </a:prstGeom>
          <a:noFill/>
          <a:ln/>
        </p:spPr>
        <p:txBody>
          <a:bodyPr wrap="square" rtlCol="0" anchor="t"/>
          <a:lstStyle/>
          <a:p>
            <a:pPr algn="l" indent="0" marL="0">
              <a:lnSpc>
                <a:spcPct val="132000"/>
              </a:lnSpc>
              <a:buNone/>
            </a:pPr>
            <a:r>
              <a:rPr lang="en-US" sz="1840" b="1" dirty="0">
                <a:solidFill>
                  <a:srgbClr val="1B1B18"/>
                </a:solidFill>
                <a:latin typeface="Heiti TC" pitchFamily="34" charset="0"/>
                <a:ea typeface="Heiti TC" pitchFamily="34" charset="-122"/>
                <a:cs typeface="Heiti TC" pitchFamily="34" charset="-120"/>
              </a:rPr>
              <a:t>婚育不再是「希望」而是「負擔」。</a:t>
            </a:r>
            <a:endParaRPr lang="en-US" sz="1840" dirty="0"/>
          </a:p>
        </p:txBody>
      </p:sp>
      <p:sp>
        <p:nvSpPr>
          <p:cNvPr id="10" name="Text 8"/>
          <p:cNvSpPr/>
          <p:nvPr/>
        </p:nvSpPr>
        <p:spPr>
          <a:xfrm>
            <a:off x="704088" y="4619549"/>
            <a:ext cx="10829239" cy="707746"/>
          </a:xfrm>
          <a:prstGeom prst="rect">
            <a:avLst/>
          </a:prstGeom>
          <a:noFill/>
          <a:ln/>
        </p:spPr>
        <p:txBody>
          <a:bodyPr wrap="square" rtlCol="0" anchor="t"/>
          <a:lstStyle/>
          <a:p>
            <a:pPr algn="l" indent="0" marL="0">
              <a:lnSpc>
                <a:spcPct val="132000"/>
              </a:lnSpc>
              <a:buNone/>
            </a:pPr>
            <a:r>
              <a:rPr lang="en-US" sz="1840" b="1" dirty="0">
                <a:solidFill>
                  <a:srgbClr val="1B1B18"/>
                </a:solidFill>
                <a:latin typeface="Heiti TC" pitchFamily="34" charset="0"/>
                <a:ea typeface="Heiti TC" pitchFamily="34" charset="-122"/>
                <a:cs typeface="Heiti TC" pitchFamily="34" charset="-120"/>
              </a:rPr>
              <a:t>錯失鼓勵生育時間</a:t>
            </a:r>
            <a:pPr algn="l" indent="0" marL="0">
              <a:lnSpc>
                <a:spcPct val="132000"/>
              </a:lnSpc>
              <a:buNone/>
            </a:pPr>
            <a:r>
              <a:rPr lang="en-US" sz="1840" dirty="0">
                <a:solidFill>
                  <a:srgbClr val="6E6A62"/>
                </a:solidFill>
                <a:latin typeface="Heiti TC" pitchFamily="34" charset="0"/>
                <a:ea typeface="Heiti TC" pitchFamily="34" charset="-122"/>
                <a:cs typeface="Heiti TC" pitchFamily="34" charset="-120"/>
              </a:rPr>
              <a:t>　環境論的迷思——以為鼓勵生育會違反環境永續。</a:t>
            </a:r>
            <a:endParaRPr lang="en-US" sz="1840" dirty="0"/>
          </a:p>
        </p:txBody>
      </p:sp>
      <p:sp>
        <p:nvSpPr>
          <p:cNvPr id="11" name="Text 9"/>
          <p:cNvSpPr/>
          <p:nvPr/>
        </p:nvSpPr>
        <p:spPr>
          <a:xfrm>
            <a:off x="704088" y="5510174"/>
            <a:ext cx="10829239" cy="707746"/>
          </a:xfrm>
          <a:prstGeom prst="rect">
            <a:avLst/>
          </a:prstGeom>
          <a:noFill/>
          <a:ln/>
        </p:spPr>
        <p:txBody>
          <a:bodyPr wrap="square" rtlCol="0" anchor="t"/>
          <a:lstStyle/>
          <a:p>
            <a:pPr algn="l" indent="0" marL="0">
              <a:lnSpc>
                <a:spcPct val="132000"/>
              </a:lnSpc>
              <a:buNone/>
            </a:pPr>
            <a:r>
              <a:rPr lang="en-US" sz="1840" b="1" dirty="0">
                <a:solidFill>
                  <a:srgbClr val="1B1B18"/>
                </a:solidFill>
                <a:latin typeface="Heiti TC" pitchFamily="34" charset="0"/>
                <a:ea typeface="Heiti TC" pitchFamily="34" charset="-122"/>
                <a:cs typeface="Heiti TC" pitchFamily="34" charset="-120"/>
              </a:rPr>
              <a:t>誤解「學習快樂」</a:t>
            </a:r>
            <a:pPr algn="l" indent="0" marL="0">
              <a:lnSpc>
                <a:spcPct val="132000"/>
              </a:lnSpc>
              <a:buNone/>
            </a:pPr>
            <a:r>
              <a:rPr lang="en-US" sz="1840" dirty="0">
                <a:solidFill>
                  <a:srgbClr val="6E6A62"/>
                </a:solidFill>
                <a:latin typeface="Heiti TC" pitchFamily="34" charset="0"/>
                <a:ea typeface="Heiti TC" pitchFamily="34" charset="-122"/>
                <a:cs typeface="Heiti TC" pitchFamily="34" charset="-120"/>
              </a:rPr>
              <a:t>　導致「去責任化」的教養。</a:t>
            </a:r>
            <a:endParaRPr lang="en-US" sz="18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658368" y="566928"/>
            <a:ext cx="10874959" cy="274320"/>
          </a:xfrm>
          <a:prstGeom prst="rect">
            <a:avLst/>
          </a:prstGeom>
          <a:noFill/>
          <a:ln/>
        </p:spPr>
        <p:txBody>
          <a:bodyPr wrap="square" rtlCol="0" anchor="ctr"/>
          <a:lstStyle/>
          <a:p>
            <a:pPr algn="l" indent="0" marL="0">
              <a:buNone/>
            </a:pPr>
            <a:r>
              <a:rPr lang="en-US" sz="1380" b="1" spc="300" kern="0" dirty="0">
                <a:solidFill>
                  <a:srgbClr val="B0562F"/>
                </a:solidFill>
                <a:latin typeface="Georgia" pitchFamily="34" charset="0"/>
                <a:ea typeface="Georgia" pitchFamily="34" charset="-122"/>
                <a:cs typeface="Georgia" pitchFamily="34" charset="-120"/>
              </a:rPr>
              <a:t>結論</a:t>
            </a:r>
            <a:endParaRPr lang="en-US" sz="1380" dirty="0"/>
          </a:p>
        </p:txBody>
      </p:sp>
      <p:sp>
        <p:nvSpPr>
          <p:cNvPr id="3" name="Text 1"/>
          <p:cNvSpPr/>
          <p:nvPr/>
        </p:nvSpPr>
        <p:spPr>
          <a:xfrm>
            <a:off x="658368" y="950976"/>
            <a:ext cx="10874959" cy="640080"/>
          </a:xfrm>
          <a:prstGeom prst="rect">
            <a:avLst/>
          </a:prstGeom>
          <a:noFill/>
          <a:ln/>
        </p:spPr>
        <p:txBody>
          <a:bodyPr wrap="square" rtlCol="0" anchor="t"/>
          <a:lstStyle/>
          <a:p>
            <a:pPr algn="l" indent="0" marL="0">
              <a:lnSpc>
                <a:spcPct val="105000"/>
              </a:lnSpc>
              <a:buNone/>
            </a:pPr>
            <a:r>
              <a:rPr lang="en-US" sz="3450" b="1" dirty="0">
                <a:solidFill>
                  <a:srgbClr val="1B1B18"/>
                </a:solidFill>
                <a:latin typeface="Songti TC" pitchFamily="34" charset="0"/>
                <a:ea typeface="Songti TC" pitchFamily="34" charset="-122"/>
                <a:cs typeface="Songti TC" pitchFamily="34" charset="-120"/>
              </a:rPr>
              <a:t>小結</a:t>
            </a:r>
            <a:endParaRPr lang="en-US" sz="3450" dirty="0"/>
          </a:p>
        </p:txBody>
      </p:sp>
      <p:sp>
        <p:nvSpPr>
          <p:cNvPr id="4" name="Shape 2"/>
          <p:cNvSpPr/>
          <p:nvPr/>
        </p:nvSpPr>
        <p:spPr>
          <a:xfrm>
            <a:off x="658368" y="1645920"/>
            <a:ext cx="822960" cy="25603"/>
          </a:xfrm>
          <a:prstGeom prst="rect">
            <a:avLst/>
          </a:prstGeom>
          <a:solidFill>
            <a:srgbClr val="0E4536"/>
          </a:solidFill>
          <a:ln/>
        </p:spPr>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A9A396"/>
                </a:solidFill>
                <a:latin typeface="Heiti TC" pitchFamily="34" charset="0"/>
                <a:ea typeface="Heiti TC" pitchFamily="34" charset="-122"/>
                <a:cs typeface="Heiti TC" pitchFamily="34" charset="-120"/>
              </a:rPr>
              <a:t>薛承泰</a:t>
            </a:r>
            <a:pPr algn="l" indent="0" marL="0">
              <a:buNone/>
            </a:pPr>
            <a:r>
              <a:rPr lang="en-US" sz="1040" dirty="0">
                <a:solidFill>
                  <a:srgbClr val="A9A396"/>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A9A396"/>
                </a:solidFill>
                <a:latin typeface="Georgia" pitchFamily="34" charset="0"/>
                <a:ea typeface="Georgia" pitchFamily="34" charset="-122"/>
                <a:cs typeface="Georgia" pitchFamily="34" charset="-120"/>
              </a:rPr>
              <a:t>29 / 30</a:t>
            </a:r>
            <a:endParaRPr lang="en-US" sz="1150" dirty="0"/>
          </a:p>
        </p:txBody>
      </p:sp>
      <p:sp>
        <p:nvSpPr>
          <p:cNvPr id="7" name="Text 5"/>
          <p:cNvSpPr/>
          <p:nvPr/>
        </p:nvSpPr>
        <p:spPr>
          <a:xfrm>
            <a:off x="658368" y="1965960"/>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1</a:t>
            </a:r>
            <a:endParaRPr lang="en-US" sz="2530" dirty="0"/>
          </a:p>
        </p:txBody>
      </p:sp>
      <p:sp>
        <p:nvSpPr>
          <p:cNvPr id="8" name="Text 6"/>
          <p:cNvSpPr/>
          <p:nvPr/>
        </p:nvSpPr>
        <p:spPr>
          <a:xfrm>
            <a:off x="1316736" y="1947672"/>
            <a:ext cx="10216591" cy="889254"/>
          </a:xfrm>
          <a:prstGeom prst="rect">
            <a:avLst/>
          </a:prstGeom>
          <a:noFill/>
          <a:ln/>
        </p:spPr>
        <p:txBody>
          <a:bodyPr wrap="square" rtlCol="0" anchor="t"/>
          <a:lstStyle/>
          <a:p>
            <a:pPr algn="l" indent="0" marL="0">
              <a:lnSpc>
                <a:spcPct val="132000"/>
              </a:lnSpc>
              <a:buNone/>
            </a:pPr>
            <a:r>
              <a:rPr lang="en-US" sz="1900" b="1" dirty="0">
                <a:solidFill>
                  <a:srgbClr val="1B1B18"/>
                </a:solidFill>
                <a:latin typeface="Heiti TC" pitchFamily="34" charset="0"/>
                <a:ea typeface="Heiti TC" pitchFamily="34" charset="-122"/>
                <a:cs typeface="Heiti TC" pitchFamily="34" charset="-120"/>
              </a:rPr>
              <a:t>生育率低迷加速人口高齡化</a:t>
            </a:r>
            <a:pPr algn="l" indent="0" marL="0">
              <a:lnSpc>
                <a:spcPct val="132000"/>
              </a:lnSpc>
              <a:buNone/>
            </a:pPr>
            <a:r>
              <a:rPr lang="en-US" sz="1900" dirty="0">
                <a:solidFill>
                  <a:srgbClr val="6E6A62"/>
                </a:solidFill>
                <a:latin typeface="Heiti TC" pitchFamily="34" charset="0"/>
                <a:ea typeface="Heiti TC" pitchFamily="34" charset="-122"/>
                <a:cs typeface="Heiti TC" pitchFamily="34" charset="-120"/>
              </a:rPr>
              <a:t>　其影響遠超過壽命的延長。</a:t>
            </a:r>
            <a:endParaRPr lang="en-US" sz="1900" dirty="0"/>
          </a:p>
        </p:txBody>
      </p:sp>
      <p:sp>
        <p:nvSpPr>
          <p:cNvPr id="9" name="Text 7"/>
          <p:cNvSpPr/>
          <p:nvPr/>
        </p:nvSpPr>
        <p:spPr>
          <a:xfrm>
            <a:off x="658368" y="3092958"/>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2</a:t>
            </a:r>
            <a:endParaRPr lang="en-US" sz="2530" dirty="0"/>
          </a:p>
        </p:txBody>
      </p:sp>
      <p:sp>
        <p:nvSpPr>
          <p:cNvPr id="10" name="Text 8"/>
          <p:cNvSpPr/>
          <p:nvPr/>
        </p:nvSpPr>
        <p:spPr>
          <a:xfrm>
            <a:off x="1316736" y="3074670"/>
            <a:ext cx="10216591" cy="889254"/>
          </a:xfrm>
          <a:prstGeom prst="rect">
            <a:avLst/>
          </a:prstGeom>
          <a:noFill/>
          <a:ln/>
        </p:spPr>
        <p:txBody>
          <a:bodyPr wrap="square" rtlCol="0" anchor="t"/>
          <a:lstStyle/>
          <a:p>
            <a:pPr algn="l" indent="0" marL="0">
              <a:lnSpc>
                <a:spcPct val="132000"/>
              </a:lnSpc>
              <a:buNone/>
            </a:pPr>
            <a:r>
              <a:rPr lang="en-US" sz="1900" b="1" dirty="0">
                <a:solidFill>
                  <a:srgbClr val="1B1B18"/>
                </a:solidFill>
                <a:latin typeface="Heiti TC" pitchFamily="34" charset="0"/>
                <a:ea typeface="Heiti TC" pitchFamily="34" charset="-122"/>
                <a:cs typeface="Heiti TC" pitchFamily="34" charset="-120"/>
              </a:rPr>
              <a:t>鼓勵婚育乃首要策略</a:t>
            </a:r>
            <a:pPr algn="l" indent="0" marL="0">
              <a:lnSpc>
                <a:spcPct val="132000"/>
              </a:lnSpc>
              <a:buNone/>
            </a:pPr>
            <a:r>
              <a:rPr lang="en-US" sz="1900" dirty="0">
                <a:solidFill>
                  <a:srgbClr val="6E6A62"/>
                </a:solidFill>
                <a:latin typeface="Heiti TC" pitchFamily="34" charset="0"/>
                <a:ea typeface="Heiti TC" pitchFamily="34" charset="-122"/>
                <a:cs typeface="Heiti TC" pitchFamily="34" charset="-120"/>
              </a:rPr>
              <a:t>　減緩高齡化與少子化速度；移民是風險最高的手段。</a:t>
            </a:r>
            <a:endParaRPr lang="en-US" sz="1900" dirty="0"/>
          </a:p>
        </p:txBody>
      </p:sp>
      <p:sp>
        <p:nvSpPr>
          <p:cNvPr id="11" name="Text 9"/>
          <p:cNvSpPr/>
          <p:nvPr/>
        </p:nvSpPr>
        <p:spPr>
          <a:xfrm>
            <a:off x="658368" y="4219956"/>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3</a:t>
            </a:r>
            <a:endParaRPr lang="en-US" sz="2530" dirty="0"/>
          </a:p>
        </p:txBody>
      </p:sp>
      <p:sp>
        <p:nvSpPr>
          <p:cNvPr id="12" name="Text 10"/>
          <p:cNvSpPr/>
          <p:nvPr/>
        </p:nvSpPr>
        <p:spPr>
          <a:xfrm>
            <a:off x="1316736" y="4201668"/>
            <a:ext cx="10216591" cy="889254"/>
          </a:xfrm>
          <a:prstGeom prst="rect">
            <a:avLst/>
          </a:prstGeom>
          <a:noFill/>
          <a:ln/>
        </p:spPr>
        <p:txBody>
          <a:bodyPr wrap="square" rtlCol="0" anchor="t"/>
          <a:lstStyle/>
          <a:p>
            <a:pPr algn="l" indent="0" marL="0">
              <a:lnSpc>
                <a:spcPct val="132000"/>
              </a:lnSpc>
              <a:buNone/>
            </a:pPr>
            <a:r>
              <a:rPr lang="en-US" sz="1900" b="1" dirty="0">
                <a:solidFill>
                  <a:srgbClr val="1B1B18"/>
                </a:solidFill>
                <a:latin typeface="Heiti TC" pitchFamily="34" charset="0"/>
                <a:ea typeface="Heiti TC" pitchFamily="34" charset="-122"/>
                <a:cs typeface="Heiti TC" pitchFamily="34" charset="-120"/>
              </a:rPr>
              <a:t>降低老人依賴與醫療時間</a:t>
            </a:r>
            <a:pPr algn="l" indent="0" marL="0">
              <a:lnSpc>
                <a:spcPct val="132000"/>
              </a:lnSpc>
              <a:buNone/>
            </a:pPr>
            <a:r>
              <a:rPr lang="en-US" sz="1900" dirty="0">
                <a:solidFill>
                  <a:srgbClr val="6E6A62"/>
                </a:solidFill>
                <a:latin typeface="Heiti TC" pitchFamily="34" charset="0"/>
                <a:ea typeface="Heiti TC" pitchFamily="34" charset="-122"/>
                <a:cs typeface="Heiti TC" pitchFamily="34" charset="-120"/>
              </a:rPr>
              <a:t>　面對超高齡社會，這是成功老化的基礎。</a:t>
            </a:r>
            <a:endParaRPr lang="en-US" sz="1900" dirty="0"/>
          </a:p>
        </p:txBody>
      </p:sp>
      <p:sp>
        <p:nvSpPr>
          <p:cNvPr id="13" name="Text 11"/>
          <p:cNvSpPr/>
          <p:nvPr/>
        </p:nvSpPr>
        <p:spPr>
          <a:xfrm>
            <a:off x="658368" y="5346954"/>
            <a:ext cx="566928" cy="457200"/>
          </a:xfrm>
          <a:prstGeom prst="rect">
            <a:avLst/>
          </a:prstGeom>
          <a:noFill/>
          <a:ln/>
        </p:spPr>
        <p:txBody>
          <a:bodyPr wrap="square" rtlCol="0" anchor="t"/>
          <a:lstStyle/>
          <a:p>
            <a:pPr algn="l" indent="0" marL="0">
              <a:buNone/>
            </a:pPr>
            <a:r>
              <a:rPr lang="en-US" sz="2530" b="1" dirty="0">
                <a:solidFill>
                  <a:srgbClr val="0E4536"/>
                </a:solidFill>
                <a:latin typeface="Georgia" pitchFamily="34" charset="0"/>
                <a:ea typeface="Georgia" pitchFamily="34" charset="-122"/>
                <a:cs typeface="Georgia" pitchFamily="34" charset="-120"/>
              </a:rPr>
              <a:t>4</a:t>
            </a:r>
            <a:endParaRPr lang="en-US" sz="2530" dirty="0"/>
          </a:p>
        </p:txBody>
      </p:sp>
      <p:sp>
        <p:nvSpPr>
          <p:cNvPr id="14" name="Text 12"/>
          <p:cNvSpPr/>
          <p:nvPr/>
        </p:nvSpPr>
        <p:spPr>
          <a:xfrm>
            <a:off x="1316736" y="5328666"/>
            <a:ext cx="10216591" cy="889254"/>
          </a:xfrm>
          <a:prstGeom prst="rect">
            <a:avLst/>
          </a:prstGeom>
          <a:noFill/>
          <a:ln/>
        </p:spPr>
        <p:txBody>
          <a:bodyPr wrap="square" rtlCol="0" anchor="t"/>
          <a:lstStyle/>
          <a:p>
            <a:pPr algn="l" indent="0" marL="0">
              <a:lnSpc>
                <a:spcPct val="132000"/>
              </a:lnSpc>
              <a:buNone/>
            </a:pPr>
            <a:r>
              <a:rPr lang="en-US" sz="1900" b="1" dirty="0">
                <a:solidFill>
                  <a:srgbClr val="1B1B18"/>
                </a:solidFill>
                <a:latin typeface="Heiti TC" pitchFamily="34" charset="0"/>
                <a:ea typeface="Heiti TC" pitchFamily="34" charset="-122"/>
                <a:cs typeface="Heiti TC" pitchFamily="34" charset="-120"/>
              </a:rPr>
              <a:t>經濟誘因只是必要條件</a:t>
            </a:r>
            <a:pPr algn="l" indent="0" marL="0">
              <a:lnSpc>
                <a:spcPct val="132000"/>
              </a:lnSpc>
              <a:buNone/>
            </a:pPr>
            <a:r>
              <a:rPr lang="en-US" sz="1900" dirty="0">
                <a:solidFill>
                  <a:srgbClr val="6E6A62"/>
                </a:solidFill>
                <a:latin typeface="Heiti TC" pitchFamily="34" charset="0"/>
                <a:ea typeface="Heiti TC" pitchFamily="34" charset="-122"/>
                <a:cs typeface="Heiti TC" pitchFamily="34" charset="-120"/>
              </a:rPr>
              <a:t>　打造年輕人對未來的信心，才是不可忽略的議題。</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4536"/>
        </a:solidFill>
      </p:bgPr>
    </p:bg>
    <p:spTree>
      <p:nvGrpSpPr>
        <p:cNvPr id="1" name=""/>
        <p:cNvGrpSpPr/>
        <p:nvPr/>
      </p:nvGrpSpPr>
      <p:grpSpPr>
        <a:xfrm>
          <a:off x="0" y="0"/>
          <a:ext cx="0" cy="0"/>
          <a:chOff x="0" y="0"/>
          <a:chExt cx="0" cy="0"/>
        </a:xfrm>
      </p:grpSpPr>
      <p:sp>
        <p:nvSpPr>
          <p:cNvPr id="2" name="Text 0"/>
          <p:cNvSpPr/>
          <p:nvPr/>
        </p:nvSpPr>
        <p:spPr>
          <a:xfrm>
            <a:off x="0" y="2468880"/>
            <a:ext cx="12191695" cy="1371600"/>
          </a:xfrm>
          <a:prstGeom prst="rect">
            <a:avLst/>
          </a:prstGeom>
          <a:noFill/>
          <a:ln/>
        </p:spPr>
        <p:txBody>
          <a:bodyPr wrap="square" rtlCol="0" anchor="ctr"/>
          <a:lstStyle/>
          <a:p>
            <a:pPr algn="ctr" indent="0" marL="0">
              <a:buNone/>
            </a:pPr>
            <a:r>
              <a:rPr lang="en-US" sz="7590" b="1" dirty="0">
                <a:solidFill>
                  <a:srgbClr val="F4F1E8"/>
                </a:solidFill>
                <a:latin typeface="Songti TC" pitchFamily="34" charset="0"/>
                <a:ea typeface="Songti TC" pitchFamily="34" charset="-122"/>
                <a:cs typeface="Songti TC" pitchFamily="34" charset="-120"/>
              </a:rPr>
              <a:t>謝謝！</a:t>
            </a:r>
            <a:endParaRPr lang="en-US" sz="7590" dirty="0"/>
          </a:p>
        </p:txBody>
      </p:sp>
      <p:sp>
        <p:nvSpPr>
          <p:cNvPr id="3" name="Text 1"/>
          <p:cNvSpPr/>
          <p:nvPr/>
        </p:nvSpPr>
        <p:spPr>
          <a:xfrm>
            <a:off x="0" y="3977640"/>
            <a:ext cx="12191695" cy="365760"/>
          </a:xfrm>
          <a:prstGeom prst="rect">
            <a:avLst/>
          </a:prstGeom>
          <a:noFill/>
          <a:ln/>
        </p:spPr>
        <p:txBody>
          <a:bodyPr wrap="square" rtlCol="0" anchor="ctr"/>
          <a:lstStyle/>
          <a:p>
            <a:pPr algn="ctr" indent="0" marL="0">
              <a:buNone/>
            </a:pPr>
            <a:r>
              <a:rPr lang="en-US" sz="1840" dirty="0">
                <a:solidFill>
                  <a:srgbClr val="C7D6CC"/>
                </a:solidFill>
                <a:latin typeface="Heiti TC" pitchFamily="34" charset="0"/>
                <a:ea typeface="Heiti TC" pitchFamily="34" charset="-122"/>
                <a:cs typeface="Heiti TC" pitchFamily="34" charset="-120"/>
              </a:rPr>
              <a:t>薛承泰　·　台大退休教授、前行政院政務委員</a:t>
            </a:r>
            <a:endParaRPr lang="en-US" sz="1840" dirty="0"/>
          </a:p>
        </p:txBody>
      </p:sp>
      <p:sp>
        <p:nvSpPr>
          <p:cNvPr id="4" name="Text 2"/>
          <p:cNvSpPr/>
          <p:nvPr/>
        </p:nvSpPr>
        <p:spPr>
          <a:xfrm>
            <a:off x="0" y="4389120"/>
            <a:ext cx="12191695" cy="365760"/>
          </a:xfrm>
          <a:prstGeom prst="rect">
            <a:avLst/>
          </a:prstGeom>
          <a:noFill/>
          <a:ln/>
        </p:spPr>
        <p:txBody>
          <a:bodyPr wrap="square" rtlCol="0" anchor="ctr"/>
          <a:lstStyle/>
          <a:p>
            <a:pPr algn="ctr" indent="0" marL="0">
              <a:buNone/>
            </a:pPr>
            <a:r>
              <a:rPr lang="en-US" sz="1500" dirty="0">
                <a:solidFill>
                  <a:srgbClr val="8FB3A2"/>
                </a:solidFill>
                <a:latin typeface="Heiti TC" pitchFamily="34" charset="0"/>
                <a:ea typeface="Heiti TC" pitchFamily="34" charset="-122"/>
                <a:cs typeface="Heiti TC" pitchFamily="34" charset="-120"/>
              </a:rPr>
              <a:t>2026 兒少政策論壇「兒家署，缺少的拼圖？」</a:t>
            </a:r>
            <a:endParaRPr lang="en-US" sz="1500" dirty="0"/>
          </a:p>
        </p:txBody>
      </p:sp>
      <p:sp>
        <p:nvSpPr>
          <p:cNvPr id="5" name="Text 3"/>
          <p:cNvSpPr/>
          <p:nvPr/>
        </p:nvSpPr>
        <p:spPr>
          <a:xfrm>
            <a:off x="658368" y="6400800"/>
            <a:ext cx="9777679" cy="274320"/>
          </a:xfrm>
          <a:prstGeom prst="rect">
            <a:avLst/>
          </a:prstGeom>
          <a:noFill/>
          <a:ln/>
        </p:spPr>
        <p:txBody>
          <a:bodyPr wrap="square" rtlCol="0" anchor="ctr"/>
          <a:lstStyle/>
          <a:p>
            <a:pPr algn="l" indent="0" marL="0">
              <a:buNone/>
            </a:pPr>
            <a:r>
              <a:rPr lang="en-US" sz="1040" b="1" dirty="0">
                <a:solidFill>
                  <a:srgbClr val="9DB4A8"/>
                </a:solidFill>
                <a:latin typeface="Heiti TC" pitchFamily="34" charset="0"/>
                <a:ea typeface="Heiti TC" pitchFamily="34" charset="-122"/>
                <a:cs typeface="Heiti TC" pitchFamily="34" charset="-120"/>
              </a:rPr>
              <a:t>薛承泰</a:t>
            </a:r>
            <a:pPr algn="l" indent="0" marL="0">
              <a:buNone/>
            </a:pPr>
            <a:r>
              <a:rPr lang="en-US" sz="1040" dirty="0">
                <a:solidFill>
                  <a:srgbClr val="9DB4A8"/>
                </a:solidFill>
                <a:latin typeface="Heiti TC" pitchFamily="34" charset="0"/>
                <a:ea typeface="Heiti TC" pitchFamily="34" charset="-122"/>
                <a:cs typeface="Heiti TC" pitchFamily="34" charset="-120"/>
              </a:rPr>
              <a:t>　·　2026 兒少政策論壇「兒家署，缺少的拼圖？」</a:t>
            </a:r>
            <a:endParaRPr lang="en-US" sz="1040" dirty="0"/>
          </a:p>
        </p:txBody>
      </p:sp>
      <p:sp>
        <p:nvSpPr>
          <p:cNvPr id="6" name="Text 4"/>
          <p:cNvSpPr/>
          <p:nvPr/>
        </p:nvSpPr>
        <p:spPr>
          <a:xfrm>
            <a:off x="10436047" y="6400800"/>
            <a:ext cx="1097280" cy="274320"/>
          </a:xfrm>
          <a:prstGeom prst="rect">
            <a:avLst/>
          </a:prstGeom>
          <a:noFill/>
          <a:ln/>
        </p:spPr>
        <p:txBody>
          <a:bodyPr wrap="square" rtlCol="0" anchor="ctr"/>
          <a:lstStyle/>
          <a:p>
            <a:pPr algn="r" indent="0" marL="0">
              <a:buNone/>
            </a:pPr>
            <a:r>
              <a:rPr lang="en-US" sz="1150" dirty="0">
                <a:solidFill>
                  <a:srgbClr val="9DB4A8"/>
                </a:solidFill>
                <a:latin typeface="Georgia" pitchFamily="34" charset="0"/>
                <a:ea typeface="Georgia" pitchFamily="34" charset="-122"/>
                <a:cs typeface="Georgia" pitchFamily="34" charset="-120"/>
              </a:rPr>
              <a:t>30 / 30</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2026-07-10T03:23:17Z</dcterms:created>
  <dcterms:modified xsi:type="dcterms:W3CDTF">2026-07-10T03:23:17Z</dcterms:modified>
</cp:coreProperties>
</file>